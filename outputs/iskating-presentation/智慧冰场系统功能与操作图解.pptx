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966e4dad3b4282" /><Relationship Type="http://schemas.openxmlformats.org/officeDocument/2006/relationships/extended-properties" Target="/docProps/app.xml" Id="Re6defe3402b44418" /><Relationship Type="http://schemas.openxmlformats.org/officeDocument/2006/relationships/officeDocument" Target="/ppt/presentation.xml" Id="R1f75d6a6e9e742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dfbe9dd2a947c8"/>
  </p:sldMasterIdLst>
  <p:notesMasterIdLst>
    <p:notesMasterId xmlns:r="http://schemas.openxmlformats.org/officeDocument/2006/relationships" r:id="R4f7daad33162470d"/>
  </p:notesMasterIdLst>
  <p:sldIdLst>
    <p:sldId xmlns:r="http://schemas.openxmlformats.org/officeDocument/2006/relationships" id="256" r:id="R68c948962a3c4f56"/>
    <p:sldId xmlns:r="http://schemas.openxmlformats.org/officeDocument/2006/relationships" id="257" r:id="R758dbe9c86d242d8"/>
    <p:sldId xmlns:r="http://schemas.openxmlformats.org/officeDocument/2006/relationships" id="258" r:id="Rec6a8efee1594723"/>
    <p:sldId xmlns:r="http://schemas.openxmlformats.org/officeDocument/2006/relationships" id="259" r:id="R8135317e1bfb4d46"/>
    <p:sldId xmlns:r="http://schemas.openxmlformats.org/officeDocument/2006/relationships" id="260" r:id="R242561e4794246bb"/>
    <p:sldId xmlns:r="http://schemas.openxmlformats.org/officeDocument/2006/relationships" id="261" r:id="R829aa65380454115"/>
    <p:sldId xmlns:r="http://schemas.openxmlformats.org/officeDocument/2006/relationships" id="262" r:id="R805c4dd02b904381"/>
    <p:sldId xmlns:r="http://schemas.openxmlformats.org/officeDocument/2006/relationships" id="263" r:id="Rd034f826020a4a8e"/>
    <p:sldId xmlns:r="http://schemas.openxmlformats.org/officeDocument/2006/relationships" id="264" r:id="R76dadeaaccef4a37"/>
    <p:sldId xmlns:r="http://schemas.openxmlformats.org/officeDocument/2006/relationships" id="265" r:id="R2f8a2509e4e04a0d"/>
    <p:sldId xmlns:r="http://schemas.openxmlformats.org/officeDocument/2006/relationships" id="266" r:id="R66feb62a108040c2"/>
    <p:sldId xmlns:r="http://schemas.openxmlformats.org/officeDocument/2006/relationships" id="267" r:id="R6a6d5c6045214a6c"/>
    <p:sldId xmlns:r="http://schemas.openxmlformats.org/officeDocument/2006/relationships" id="268" r:id="R9559eafff5f7475a"/>
    <p:sldId xmlns:r="http://schemas.openxmlformats.org/officeDocument/2006/relationships" id="269" r:id="R9a8c454c018142af"/>
    <p:sldId xmlns:r="http://schemas.openxmlformats.org/officeDocument/2006/relationships" id="270" r:id="Rae756d86310c442a"/>
    <p:sldId xmlns:r="http://schemas.openxmlformats.org/officeDocument/2006/relationships" id="271" r:id="R68e394a45e9240c7"/>
    <p:sldId xmlns:r="http://schemas.openxmlformats.org/officeDocument/2006/relationships" id="272" r:id="R89930001bee64b0d"/>
    <p:sldId xmlns:r="http://schemas.openxmlformats.org/officeDocument/2006/relationships" id="273" r:id="R261a86d641b24ad5"/>
    <p:sldId xmlns:r="http://schemas.openxmlformats.org/officeDocument/2006/relationships" id="274" r:id="R36ad4287ef28422f"/>
    <p:sldId xmlns:r="http://schemas.openxmlformats.org/officeDocument/2006/relationships" id="275" r:id="Rf5003ce8be724d18"/>
    <p:sldId xmlns:r="http://schemas.openxmlformats.org/officeDocument/2006/relationships" id="276" r:id="R08c1f4bb14474b61"/>
    <p:sldId xmlns:r="http://schemas.openxmlformats.org/officeDocument/2006/relationships" id="277" r:id="R61a084d8d8dc4840"/>
    <p:sldId xmlns:r="http://schemas.openxmlformats.org/officeDocument/2006/relationships" id="278" r:id="Ra58f708d20ec4a01"/>
    <p:sldId xmlns:r="http://schemas.openxmlformats.org/officeDocument/2006/relationships" id="279" r:id="R1176ccac77904845"/>
    <p:sldId xmlns:r="http://schemas.openxmlformats.org/officeDocument/2006/relationships" id="280" r:id="Rbaff2ba7188e4560"/>
    <p:sldId xmlns:r="http://schemas.openxmlformats.org/officeDocument/2006/relationships" id="281" r:id="Rf026153c39c44aea"/>
    <p:sldId xmlns:r="http://schemas.openxmlformats.org/officeDocument/2006/relationships" id="282" r:id="Rb1590af445b64247"/>
    <p:sldId xmlns:r="http://schemas.openxmlformats.org/officeDocument/2006/relationships" id="283" r:id="R786da6ae07c34d1e"/>
    <p:sldId xmlns:r="http://schemas.openxmlformats.org/officeDocument/2006/relationships" id="284" r:id="R559b687fde114ada"/>
    <p:sldId xmlns:r="http://schemas.openxmlformats.org/officeDocument/2006/relationships" id="285" r:id="R27b5ec9a07354d1b"/>
    <p:sldId xmlns:r="http://schemas.openxmlformats.org/officeDocument/2006/relationships" id="286" r:id="R5a7fa48c28984ae1"/>
    <p:sldId xmlns:r="http://schemas.openxmlformats.org/officeDocument/2006/relationships" id="287" r:id="Rafe36dc11b8748b4"/>
    <p:sldId xmlns:r="http://schemas.openxmlformats.org/officeDocument/2006/relationships" id="288" r:id="R80ae4f0754c84ea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cd4dd2f6f1419f" /><Relationship Type="http://schemas.openxmlformats.org/officeDocument/2006/relationships/slideMaster" Target="/ppt/slideMasters/slideMaster1.xml" Id="Rfedfbe9dd2a947c8" /><Relationship Type="http://schemas.openxmlformats.org/officeDocument/2006/relationships/notesMaster" Target="/ppt/notesMasters/notesMaster1.xml" Id="R4f7daad33162470d" /><Relationship Type="http://schemas.openxmlformats.org/officeDocument/2006/relationships/presProps" Target="/ppt/presProps.xml" Id="Rf44b46651d0a425c" /><Relationship Type="http://schemas.openxmlformats.org/officeDocument/2006/relationships/tableStyles" Target="/ppt/tableStyles.xml" Id="Rcc8345c1dc8d4ac8" /><Relationship Type="http://schemas.openxmlformats.org/officeDocument/2006/relationships/slide" Target="/ppt/slides/slide1.xml" Id="R68c948962a3c4f56" /><Relationship Type="http://schemas.openxmlformats.org/officeDocument/2006/relationships/slide" Target="/ppt/slides/slide2.xml" Id="R758dbe9c86d242d8" /><Relationship Type="http://schemas.openxmlformats.org/officeDocument/2006/relationships/slide" Target="/ppt/slides/slide3.xml" Id="Rec6a8efee1594723" /><Relationship Type="http://schemas.openxmlformats.org/officeDocument/2006/relationships/slide" Target="/ppt/slides/slide4.xml" Id="R8135317e1bfb4d46" /><Relationship Type="http://schemas.openxmlformats.org/officeDocument/2006/relationships/slide" Target="/ppt/slides/slide5.xml" Id="R242561e4794246bb" /><Relationship Type="http://schemas.openxmlformats.org/officeDocument/2006/relationships/slide" Target="/ppt/slides/slide6.xml" Id="R829aa65380454115" /><Relationship Type="http://schemas.openxmlformats.org/officeDocument/2006/relationships/slide" Target="/ppt/slides/slide7.xml" Id="R805c4dd02b904381" /><Relationship Type="http://schemas.openxmlformats.org/officeDocument/2006/relationships/slide" Target="/ppt/slides/slide8.xml" Id="Rd034f826020a4a8e" /><Relationship Type="http://schemas.openxmlformats.org/officeDocument/2006/relationships/slide" Target="/ppt/slides/slide9.xml" Id="R76dadeaaccef4a37" /><Relationship Type="http://schemas.openxmlformats.org/officeDocument/2006/relationships/slide" Target="/ppt/slides/slide10.xml" Id="R2f8a2509e4e04a0d" /><Relationship Type="http://schemas.openxmlformats.org/officeDocument/2006/relationships/slide" Target="/ppt/slides/slide11.xml" Id="R66feb62a108040c2" /><Relationship Type="http://schemas.openxmlformats.org/officeDocument/2006/relationships/slide" Target="/ppt/slides/slide12.xml" Id="R6a6d5c6045214a6c" /><Relationship Type="http://schemas.openxmlformats.org/officeDocument/2006/relationships/slide" Target="/ppt/slides/slide13.xml" Id="R9559eafff5f7475a" /><Relationship Type="http://schemas.openxmlformats.org/officeDocument/2006/relationships/slide" Target="/ppt/slides/slide14.xml" Id="R9a8c454c018142af" /><Relationship Type="http://schemas.openxmlformats.org/officeDocument/2006/relationships/slide" Target="/ppt/slides/slide15.xml" Id="Rae756d86310c442a" /><Relationship Type="http://schemas.openxmlformats.org/officeDocument/2006/relationships/slide" Target="/ppt/slides/slide16.xml" Id="R68e394a45e9240c7" /><Relationship Type="http://schemas.openxmlformats.org/officeDocument/2006/relationships/slide" Target="/ppt/slides/slide17.xml" Id="R89930001bee64b0d" /><Relationship Type="http://schemas.openxmlformats.org/officeDocument/2006/relationships/slide" Target="/ppt/slides/slide18.xml" Id="R261a86d641b24ad5" /><Relationship Type="http://schemas.openxmlformats.org/officeDocument/2006/relationships/slide" Target="/ppt/slides/slide19.xml" Id="R36ad4287ef28422f" /><Relationship Type="http://schemas.openxmlformats.org/officeDocument/2006/relationships/slide" Target="/ppt/slides/slide20.xml" Id="Rf5003ce8be724d18" /><Relationship Type="http://schemas.openxmlformats.org/officeDocument/2006/relationships/slide" Target="/ppt/slides/slide21.xml" Id="R08c1f4bb14474b61" /><Relationship Type="http://schemas.openxmlformats.org/officeDocument/2006/relationships/slide" Target="/ppt/slides/slide22.xml" Id="R61a084d8d8dc4840" /><Relationship Type="http://schemas.openxmlformats.org/officeDocument/2006/relationships/slide" Target="/ppt/slides/slide23.xml" Id="Ra58f708d20ec4a01" /><Relationship Type="http://schemas.openxmlformats.org/officeDocument/2006/relationships/slide" Target="/ppt/slides/slide24.xml" Id="R1176ccac77904845" /><Relationship Type="http://schemas.openxmlformats.org/officeDocument/2006/relationships/slide" Target="/ppt/slides/slide25.xml" Id="Rbaff2ba7188e4560" /><Relationship Type="http://schemas.openxmlformats.org/officeDocument/2006/relationships/slide" Target="/ppt/slides/slide26.xml" Id="Rf026153c39c44aea" /><Relationship Type="http://schemas.openxmlformats.org/officeDocument/2006/relationships/slide" Target="/ppt/slides/slide27.xml" Id="Rb1590af445b64247" /><Relationship Type="http://schemas.openxmlformats.org/officeDocument/2006/relationships/slide" Target="/ppt/slides/slide28.xml" Id="R786da6ae07c34d1e" /><Relationship Type="http://schemas.openxmlformats.org/officeDocument/2006/relationships/slide" Target="/ppt/slides/slide29.xml" Id="R559b687fde114ada" /><Relationship Type="http://schemas.openxmlformats.org/officeDocument/2006/relationships/slide" Target="/ppt/slides/slide30.xml" Id="R27b5ec9a07354d1b" /><Relationship Type="http://schemas.openxmlformats.org/officeDocument/2006/relationships/slide" Target="/ppt/slides/slide31.xml" Id="R5a7fa48c28984ae1" /><Relationship Type="http://schemas.openxmlformats.org/officeDocument/2006/relationships/slide" Target="/ppt/slides/slide32.xml" Id="Rafe36dc11b8748b4" /><Relationship Type="http://schemas.openxmlformats.org/officeDocument/2006/relationships/slide" Target="/ppt/slides/slide33.xml" Id="R80ae4f0754c84e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553f54c55c41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39b5f7bd6a4eb6" /><Relationship Type="http://schemas.openxmlformats.org/officeDocument/2006/relationships/notesMaster" Target="/ppt/notesMasters/notesMaster1.xml" Id="R1bb04e11bc3745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0cafbeff974ae5" /><Relationship Type="http://schemas.openxmlformats.org/officeDocument/2006/relationships/notesMaster" Target="/ppt/notesMasters/notesMaster1.xml" Id="R3888d931bc6b4c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b9b751ac694182" /><Relationship Type="http://schemas.openxmlformats.org/officeDocument/2006/relationships/notesMaster" Target="/ppt/notesMasters/notesMaster1.xml" Id="Rd82e18cd99da4e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5cbd2b914349e6" /><Relationship Type="http://schemas.openxmlformats.org/officeDocument/2006/relationships/notesMaster" Target="/ppt/notesMasters/notesMaster1.xml" Id="Rb7a480d4dcc847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da24a129544c31" /><Relationship Type="http://schemas.openxmlformats.org/officeDocument/2006/relationships/notesMaster" Target="/ppt/notesMasters/notesMaster1.xml" Id="R6a38326d87b949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8227bf9e32457e" /><Relationship Type="http://schemas.openxmlformats.org/officeDocument/2006/relationships/notesMaster" Target="/ppt/notesMasters/notesMaster1.xml" Id="Rd7f8c14b93f843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2a9fcc75c64c91" /><Relationship Type="http://schemas.openxmlformats.org/officeDocument/2006/relationships/notesMaster" Target="/ppt/notesMasters/notesMaster1.xml" Id="R01919cfc7e6145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10a59c8aed4753" /><Relationship Type="http://schemas.openxmlformats.org/officeDocument/2006/relationships/notesMaster" Target="/ppt/notesMasters/notesMaster1.xml" Id="Rb502c5b3cebd4d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005e27c39d4997" /><Relationship Type="http://schemas.openxmlformats.org/officeDocument/2006/relationships/notesMaster" Target="/ppt/notesMasters/notesMaster1.xml" Id="R09eb401b04024d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d8030d042242d8" /><Relationship Type="http://schemas.openxmlformats.org/officeDocument/2006/relationships/notesMaster" Target="/ppt/notesMasters/notesMaster1.xml" Id="Rbd98da1751d147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7a749f970a48d0" /><Relationship Type="http://schemas.openxmlformats.org/officeDocument/2006/relationships/notesMaster" Target="/ppt/notesMasters/notesMaster1.xml" Id="Rc96c1e7f6bf444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47cb08daf34ee4" /><Relationship Type="http://schemas.openxmlformats.org/officeDocument/2006/relationships/notesMaster" Target="/ppt/notesMasters/notesMaster1.xml" Id="Rf196c96694bc4d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cb5a19d1034032" /><Relationship Type="http://schemas.openxmlformats.org/officeDocument/2006/relationships/notesMaster" Target="/ppt/notesMasters/notesMaster1.xml" Id="R14493bf1668744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5daa242cf6469b" /><Relationship Type="http://schemas.openxmlformats.org/officeDocument/2006/relationships/notesMaster" Target="/ppt/notesMasters/notesMaster1.xml" Id="R7bfe39600c1944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aff078699f425b" /><Relationship Type="http://schemas.openxmlformats.org/officeDocument/2006/relationships/notesMaster" Target="/ppt/notesMasters/notesMaster1.xml" Id="R95f42f21dd2343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09053a474d4603" /><Relationship Type="http://schemas.openxmlformats.org/officeDocument/2006/relationships/notesMaster" Target="/ppt/notesMasters/notesMaster1.xml" Id="R72afa6ef572a4f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05a069b911424e" /><Relationship Type="http://schemas.openxmlformats.org/officeDocument/2006/relationships/notesMaster" Target="/ppt/notesMasters/notesMaster1.xml" Id="R364449251bf549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7559b1b77b4cb9" /><Relationship Type="http://schemas.openxmlformats.org/officeDocument/2006/relationships/notesMaster" Target="/ppt/notesMasters/notesMaster1.xml" Id="R40572d083ffe47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10a7d119b84a00" /><Relationship Type="http://schemas.openxmlformats.org/officeDocument/2006/relationships/notesMaster" Target="/ppt/notesMasters/notesMaster1.xml" Id="R30cea55539854b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c93c30bb9d44ef" /><Relationship Type="http://schemas.openxmlformats.org/officeDocument/2006/relationships/notesMaster" Target="/ppt/notesMasters/notesMaster1.xml" Id="Re6604689d31843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ae96a4a15340b5" /><Relationship Type="http://schemas.openxmlformats.org/officeDocument/2006/relationships/notesMaster" Target="/ppt/notesMasters/notesMaster1.xml" Id="R4ab4a13d96d2414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7f949827f3484c" /><Relationship Type="http://schemas.openxmlformats.org/officeDocument/2006/relationships/notesMaster" Target="/ppt/notesMasters/notesMaster1.xml" Id="Rd01d27a81e6e4b8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e5ca70f72c9471a" /><Relationship Type="http://schemas.openxmlformats.org/officeDocument/2006/relationships/notesMaster" Target="/ppt/notesMasters/notesMaster1.xml" Id="R699fd893766941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808f91b1064727" /><Relationship Type="http://schemas.openxmlformats.org/officeDocument/2006/relationships/notesMaster" Target="/ppt/notesMasters/notesMaster1.xml" Id="R1652cda1dc084b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ed0c86d20cf4861" /><Relationship Type="http://schemas.openxmlformats.org/officeDocument/2006/relationships/notesMaster" Target="/ppt/notesMasters/notesMaster1.xml" Id="R3ab22e58bcaa442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d17fe7a35b44814" /><Relationship Type="http://schemas.openxmlformats.org/officeDocument/2006/relationships/notesMaster" Target="/ppt/notesMasters/notesMaster1.xml" Id="R9f46107cedd649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b2e708980624b47" /><Relationship Type="http://schemas.openxmlformats.org/officeDocument/2006/relationships/notesMaster" Target="/ppt/notesMasters/notesMaster1.xml" Id="Rc03f36722194455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cdce96d0f814fd0" /><Relationship Type="http://schemas.openxmlformats.org/officeDocument/2006/relationships/notesMaster" Target="/ppt/notesMasters/notesMaster1.xml" Id="R7cd1dcadecba426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5bf767db2274694" /><Relationship Type="http://schemas.openxmlformats.org/officeDocument/2006/relationships/notesMaster" Target="/ppt/notesMasters/notesMaster1.xml" Id="R7f48b9920f2845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603e8ba74a84f52" /><Relationship Type="http://schemas.openxmlformats.org/officeDocument/2006/relationships/notesMaster" Target="/ppt/notesMasters/notesMaster1.xml" Id="R1dc7f2fb56ce4ec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ce0fd874a643cf" /><Relationship Type="http://schemas.openxmlformats.org/officeDocument/2006/relationships/notesMaster" Target="/ppt/notesMasters/notesMaster1.xml" Id="R8d8200b07cb24a0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0924b262614731" /><Relationship Type="http://schemas.openxmlformats.org/officeDocument/2006/relationships/notesMaster" Target="/ppt/notesMasters/notesMaster1.xml" Id="R50385f7570a8478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41a615c4fac43b1" /><Relationship Type="http://schemas.openxmlformats.org/officeDocument/2006/relationships/notesMaster" Target="/ppt/notesMasters/notesMaster1.xml" Id="Re0db60e3fc3f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src/ui/mainwindow.cpp startCapture、saveRecord、importOfflineVideo。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界面依据：screen-shots/系统状态.png。按钮、条件及状态补充依据README与src/ui对应实现。局部图仅裁剪放大原始截图，未更改界面内容。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README 首次运行与配置。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界面依据：screen-shots/系统设置-1.png。按钮、条件及状态补充依据README与src/ui对应实现。局部图仅裁剪放大原始截图，未更改界面内容。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界面依据：screen-shots/系统设置-2.png。按钮、条件及状态补充依据README与src/ui对应实现。局部图仅裁剪放大原始截图，未更改界面内容。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src/ui/systemsettingsdialog.cpp 330—455。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界面依据：screen-shots/系统设置-3.png。按钮、条件及状态补充依据README与src/ui对应实现。局部图仅裁剪放大原始截图，未更改界面内容。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界面依据：screen-shots/系统设置-4.png。按钮、条件及状态补充依据README与src/ui对应实现。局部图仅裁剪放大原始截图，未更改界面内容。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界面依据：screen-shots/人员管理.png。按钮、条件及状态补充依据README与src/ui对应实现。局部图仅裁剪放大原始截图，未更改界面内容。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界面依据：screen-shots/比赛管理.png。按钮、条件及状态补充依据README与src/ui对应实现。局部图仅裁剪放大原始截图，未更改界面内容。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README 比赛管理；src/ui/competitionmanagementdialog.cpp。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界面依据：screen-shots/训练设置.png。按钮、条件及状态补充依据README与src/ui对应实现。局部图仅裁剪放大原始截图，未更改界面内容。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界面依据：screen-shots/主界面.png。按钮、条件及状态补充依据README与src/ui对应实现。局部图仅裁剪放大原始截图，未更改界面内容。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界面依据：screen-shots/主界面.png。按钮、条件及状态补充依据README与src/ui对应实现。局部图仅裁剪放大原始截图，未更改界面内容。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src/ui/mainwindow.cpp openManualIdentityBindingDialog 附近3930—4010。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界面依据：screen-shots/历史复盘.png。按钮、条件及状态补充依据README与src/ui对应实现。局部图仅裁剪放大原始截图，未更改界面内容。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界面依据：screen-shots/复盘校准.png。按钮、条件及状态补充依据README与src/ui对应实现。局部图仅裁剪放大原始截图，未更改界面内容。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界面依据：screen-shots/复盘校准.png。按钮、条件及状态补充依据README与src/ui对应实现。局部图仅裁剪放大原始截图，未更改界面内容。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界面依据：screen-shots/任务中心.png。按钮、条件及状态补充依据README与src/ui对应实现。局部图仅裁剪放大原始截图，未更改界面内容。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README 任务中心；src/ui/analysistaskcenterdialog.cpp。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界面依据：screen-shots/完整分析.png。按钮、条件及状态补充依据README与src/ui对应实现。局部图仅裁剪放大原始截图，未更改界面内容。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README 完整分析；src/ui/offlineanalysisdialog.cpp。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README；models/athlete/athlete_models.json；src/domain/athleteanalysisresult.h；server/app/schema.py；analysis_worker/worker.py。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>模型契约、README和前版引用的轨迹速度实现。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依据用户提供的智慧冰场系统集成工作计划表.xlsb、screen-shots原始截图、当前README和对应界面代码。截图为既有样例状态，不能证明现场验收通过。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09ddc14db4a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09add1221847e9" /><Relationship Type="http://schemas.openxmlformats.org/officeDocument/2006/relationships/slideLayout" Target="/ppt/slideLayouts/slideLayout1.xml" Id="R606f818d73bd42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6f818d73bd42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59cd58a234ff7" /><Relationship Type="http://schemas.openxmlformats.org/officeDocument/2006/relationships/notesSlide" Target="/ppt/notesSlides/notesSlide1.xml" Id="R7a5d601388e642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30636cce24a1c" /><Relationship Type="http://schemas.openxmlformats.org/officeDocument/2006/relationships/notesSlide" Target="/ppt/notesSlides/notesSlide2.xml" Id="Rea653b7b684e48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bde8f1f904569" /><Relationship Type="http://schemas.openxmlformats.org/officeDocument/2006/relationships/notesSlide" Target="/ppt/notesSlides/notesSlide3.xml" Id="R87a7a1c7f7be4e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b7d8022fa444c" /><Relationship Type="http://schemas.openxmlformats.org/officeDocument/2006/relationships/image" Target="/ppt/media/image.png" Id="Rce56c336548e4148" /><Relationship Type="http://schemas.openxmlformats.org/officeDocument/2006/relationships/notesSlide" Target="/ppt/notesSlides/notesSlide4.xml" Id="R5c7b356581fe40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b2a11b7924bf2" /><Relationship Type="http://schemas.openxmlformats.org/officeDocument/2006/relationships/notesSlide" Target="/ppt/notesSlides/notesSlide5.xml" Id="Rf99906f726f043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0e3a41cb84be4" /><Relationship Type="http://schemas.openxmlformats.org/officeDocument/2006/relationships/image" Target="/ppt/media/image2.png" Id="Rd7fbaa228f0e4af0" /><Relationship Type="http://schemas.openxmlformats.org/officeDocument/2006/relationships/notesSlide" Target="/ppt/notesSlides/notesSlide6.xml" Id="Rf49f572d996847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67e0a4bc541ea" /><Relationship Type="http://schemas.openxmlformats.org/officeDocument/2006/relationships/notesSlide" Target="/ppt/notesSlides/notesSlide7.xml" Id="R700cdf2761d140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0a6497b0e4471" /><Relationship Type="http://schemas.openxmlformats.org/officeDocument/2006/relationships/image" Target="/ppt/media/image3.png" Id="R032b724db8cb4f42" /><Relationship Type="http://schemas.openxmlformats.org/officeDocument/2006/relationships/notesSlide" Target="/ppt/notesSlides/notesSlide8.xml" Id="R6e172625938146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29d3c2a49486f" /><Relationship Type="http://schemas.openxmlformats.org/officeDocument/2006/relationships/notesSlide" Target="/ppt/notesSlides/notesSlide9.xml" Id="R76d36ca4e68d43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e101572724333" /><Relationship Type="http://schemas.openxmlformats.org/officeDocument/2006/relationships/image" Target="/ppt/media/image4.png" Id="Refecf0b06a5f4796" /><Relationship Type="http://schemas.openxmlformats.org/officeDocument/2006/relationships/notesSlide" Target="/ppt/notesSlides/notesSlide10.xml" Id="R0f40b9b801b646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6962909364b7f" /><Relationship Type="http://schemas.openxmlformats.org/officeDocument/2006/relationships/image" Target="/ppt/media/image5.png" Id="Rf3e9e7eb49bc44ba" /><Relationship Type="http://schemas.openxmlformats.org/officeDocument/2006/relationships/notesSlide" Target="/ppt/notesSlides/notesSlide11.xml" Id="Rc56af2db7066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96a157f624cf7" /><Relationship Type="http://schemas.openxmlformats.org/officeDocument/2006/relationships/image" Target="/ppt/media/image6.png" Id="R132f216e422647a8" /><Relationship Type="http://schemas.openxmlformats.org/officeDocument/2006/relationships/notesSlide" Target="/ppt/notesSlides/notesSlide12.xml" Id="Rfdc6910f786143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40a06fa304d4d" /><Relationship Type="http://schemas.openxmlformats.org/officeDocument/2006/relationships/image" Target="/ppt/media/image7.png" Id="Ra89790198e7e4370" /><Relationship Type="http://schemas.openxmlformats.org/officeDocument/2006/relationships/notesSlide" Target="/ppt/notesSlides/notesSlide13.xml" Id="R46c39eb2f34f41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6ba184f4b48d1" /><Relationship Type="http://schemas.openxmlformats.org/officeDocument/2006/relationships/notesSlide" Target="/ppt/notesSlides/notesSlide14.xml" Id="Re9ec92e44f3349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604aca50d41c9" /><Relationship Type="http://schemas.openxmlformats.org/officeDocument/2006/relationships/image" Target="/ppt/media/image8.png" Id="R34cfe2c138954944" /><Relationship Type="http://schemas.openxmlformats.org/officeDocument/2006/relationships/image" Target="/ppt/media/image9.png" Id="R1d4e435a0d9a4091" /><Relationship Type="http://schemas.openxmlformats.org/officeDocument/2006/relationships/notesSlide" Target="/ppt/notesSlides/notesSlide15.xml" Id="Refa9f6525d5a49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9ed95ab64483f" /><Relationship Type="http://schemas.openxmlformats.org/officeDocument/2006/relationships/notesSlide" Target="/ppt/notesSlides/notesSlide16.xml" Id="R0b6e3d34225547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cb0630fdf4564" /><Relationship Type="http://schemas.openxmlformats.org/officeDocument/2006/relationships/image" Target="/ppt/media/image10.png" Id="Rb83872af469748ed" /><Relationship Type="http://schemas.openxmlformats.org/officeDocument/2006/relationships/notesSlide" Target="/ppt/notesSlides/notesSlide17.xml" Id="Rbed613a4baab4c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7fe7511ca4bed" /><Relationship Type="http://schemas.openxmlformats.org/officeDocument/2006/relationships/image" Target="/ppt/media/image11.png" Id="Rdc9ff3f0f33f4998" /><Relationship Type="http://schemas.openxmlformats.org/officeDocument/2006/relationships/notesSlide" Target="/ppt/notesSlides/notesSlide18.xml" Id="R0b9abfacd75a49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d24b77cd047b3" /><Relationship Type="http://schemas.openxmlformats.org/officeDocument/2006/relationships/notesSlide" Target="/ppt/notesSlides/notesSlide19.xml" Id="Rfd768d209b7a46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48ba96e70436c" /><Relationship Type="http://schemas.openxmlformats.org/officeDocument/2006/relationships/image" Target="/ppt/media/image12.png" Id="R3bc82db185024605" /><Relationship Type="http://schemas.openxmlformats.org/officeDocument/2006/relationships/notesSlide" Target="/ppt/notesSlides/notesSlide20.xml" Id="R5fce142f62a245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64fc626c24892" /><Relationship Type="http://schemas.openxmlformats.org/officeDocument/2006/relationships/notesSlide" Target="/ppt/notesSlides/notesSlide21.xml" Id="Re709fe2d2f7a46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e5bfbc0c64442" /><Relationship Type="http://schemas.openxmlformats.org/officeDocument/2006/relationships/image" Target="/ppt/media/image13.png" Id="R5ac67896bf8d47c0" /><Relationship Type="http://schemas.openxmlformats.org/officeDocument/2006/relationships/notesSlide" Target="/ppt/notesSlides/notesSlide22.xml" Id="Reb37493fa285442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dd4ee656b486d" /><Relationship Type="http://schemas.openxmlformats.org/officeDocument/2006/relationships/image" Target="/ppt/media/image14.png" Id="Rc95943563cac4e21" /><Relationship Type="http://schemas.openxmlformats.org/officeDocument/2006/relationships/notesSlide" Target="/ppt/notesSlides/notesSlide23.xml" Id="Rfe133f7591724e3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f71c430a44f1b" /><Relationship Type="http://schemas.openxmlformats.org/officeDocument/2006/relationships/image" Target="/ppt/media/image15.png" Id="Re5e1751504df41c0" /><Relationship Type="http://schemas.openxmlformats.org/officeDocument/2006/relationships/notesSlide" Target="/ppt/notesSlides/notesSlide24.xml" Id="Rdc06ac5f90d4424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9f225d93344f8" /><Relationship Type="http://schemas.openxmlformats.org/officeDocument/2006/relationships/notesSlide" Target="/ppt/notesSlides/notesSlide25.xml" Id="R0c7c8ac6df1744d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da339d852425d" /><Relationship Type="http://schemas.openxmlformats.org/officeDocument/2006/relationships/image" Target="/ppt/media/image16.png" Id="R06a24f16cd9b41ab" /><Relationship Type="http://schemas.openxmlformats.org/officeDocument/2006/relationships/notesSlide" Target="/ppt/notesSlides/notesSlide26.xml" Id="R65663a589a67422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6a9a32f9d49c3" /><Relationship Type="http://schemas.openxmlformats.org/officeDocument/2006/relationships/notesSlide" Target="/ppt/notesSlides/notesSlide27.xml" Id="R454af3c582a141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8c2abd4b34245" /><Relationship Type="http://schemas.openxmlformats.org/officeDocument/2006/relationships/notesSlide" Target="/ppt/notesSlides/notesSlide28.xml" Id="R71bc20bb08664d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ec61b98a345f5" /><Relationship Type="http://schemas.openxmlformats.org/officeDocument/2006/relationships/notesSlide" Target="/ppt/notesSlides/notesSlide29.xml" Id="Rf66fd94fc60a4cc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6444c6cdc4682" /><Relationship Type="http://schemas.openxmlformats.org/officeDocument/2006/relationships/notesSlide" Target="/ppt/notesSlides/notesSlide30.xml" Id="R07bc80d9639943c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2152a05d24df5" /><Relationship Type="http://schemas.openxmlformats.org/officeDocument/2006/relationships/notesSlide" Target="/ppt/notesSlides/notesSlide31.xml" Id="R1deb10a6732341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7f768f07e49ed" /><Relationship Type="http://schemas.openxmlformats.org/officeDocument/2006/relationships/notesSlide" Target="/ppt/notesSlides/notesSlide32.xml" Id="R4eb0b30792854c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6ac5fb80f4012" /><Relationship Type="http://schemas.openxmlformats.org/officeDocument/2006/relationships/notesSlide" Target="/ppt/notesSlides/notesSlide33.xml" Id="Rdd442d1d47a446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C472A-CDB9-40BE-84E2-1B1FB868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74B66-8508-44FD-BAFC-FE82335A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AB35C-B951-468E-BC79-352B92EA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381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iSkating 智慧冰场系统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C0BE5-38A0-4CCE-B4BF-F1D44081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409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功能与操作图解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B8AAE-1219-426E-A4F0-427AA98C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逐项对应界面，说明入口、步骤与结果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05E36-F134-44DD-863D-1C64E011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使用流程与参数说明　　算法集成进度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CDB69-AA77-4F8D-AE29-74A70830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342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2026年9月</a:t>
            </a:r>
          </a:p>
        </p:txBody>
      </p:sp>
    </p:spTree>
    <p:extLst>
      <p:ext uri="{BB962C8B-B14F-4D97-AF65-F5344CB8AC3E}">
        <p14:creationId xmlns:p14="http://schemas.microsoft.com/office/powerpoint/2010/main" val="1292204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D8691-DFE5-4F80-9E94-1E785810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功能与界面导航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8CBD5-68A3-46E4-A54C-7BB56CA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按现场使用顺序阅读。每个模块紧接对应界面与操作说明，复杂功能另附参数或状态对照。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BE94A-5935-4CEE-A799-D8716D2F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界面名称与截图保持一致。截图中的测试数据和空状态用于解释界面，实际使用以现场数据为准。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6D645-E277-4FF4-9A6B-B2D8AB53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6477000"/>
                <a:gridCol w="2381250"/>
              </a:tblGrid>
              <a:tr h="6524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要完成的工作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对应界面或入口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阅读页码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确认环境、连接摄像头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系统状态；系统设置中的视频与摄像头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04—07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校准轨迹、设置分析和存储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系统设置中的场地与轨迹、AI分析、存储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08—11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准备人员、比赛及训练内容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人员管理、比赛管理、训练设置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12—16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开始训练、核对身份并保存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实时训练主界面及右侧控制区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17—19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查找记录、回看并复核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历史复盘、复盘校准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20—23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导入录像、管理12路分析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导入视频、任务中心、完整分析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24—28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串联操作、了解集成进度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完整操作示例、算法状态及后续工作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29—33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22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F7922-0854-4B48-9322-4B331B6B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一次训练的完整操作顺序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CC77C-0CC4-4538-8207-80A53A57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首次使用先完成系统设置。日常使用从环境检查开始，直到在历史复盘中找到并核对本次记录。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A63F8-2CA0-49A0-B092-A8996DF4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前提：训练服务可用，已选择运动员与动作标准，至少配置一路相机或成功导入有效视频。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43869-F832-42B2-8D50-BE1C2CD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E936C-DE36-43A6-9DDE-A92B536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训练前准备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6A237-D4AC-4480-A930-C9169178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打开“系统状态”检查服务与机位。在“人员管理”维护运动员和教练；比赛场景先维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护比赛、场次与参赛关系。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08BCC-15B4-4491-9971-4DE9DCA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确定本次内容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B30A0-85F8-4BDC-8E7A-EEC98B14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回到“实时训练”，打开“训练设置”，选择运动员、教练和动作标准，填写场地、阶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段及目标。多人训练补充参与2—4。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C3237-027F-4EDB-AA8E-2C8D2F61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执行并保存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23695-6B9C-4280-BA85-9D213EEC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0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确认视频来源有效后点击“开始训练”。观察画面、身份、时长及轨迹。结束后停止并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“保存训练记录”，核对保存提示。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D17B2-2BEA-46C7-906E-ABB55903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回看与复核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33F3A-97D2-4104-8F34-C316525D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143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进入“历史复盘”查询该运动员和日期，选中本次记录，按需播放录像、复盘校准、查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看轨迹速度、填写批注和导出报告。</a:t>
            </a:r>
          </a:p>
        </p:txBody>
      </p:sp>
    </p:spTree>
    <p:extLst>
      <p:ext uri="{BB962C8B-B14F-4D97-AF65-F5344CB8AC3E}">
        <p14:creationId xmlns:p14="http://schemas.microsoft.com/office/powerpoint/2010/main" val="2048841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05398-5F5E-45D4-B74B-AB269B2E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系统状态：训练前检查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367B0-33B9-4493-A87A-E7B1BA5E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入口：左侧“系统状态”。用于区分服务、算法、摄像头和存储问题，避免只看主画面判断整套系统。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80E78-B5B9-4E33-89B8-E46EFEBD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截图解读：已配置2/12只表示填写了2路IP，在线仍为“未检测”，不能解读为2路已在线。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5F422-AAC1-4379-8827-E7606EE7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6c336548e4148"/>
          <a:stretch xmlns:a="http://schemas.openxmlformats.org/drawingml/2006/main"/>
        </p:blipFill>
        <p:spPr>
          <a:xfrm xmlns:a="http://schemas.openxmlformats.org/drawingml/2006/main">
            <a:off x="571500" y="3572235"/>
            <a:ext cx="8572500" cy="233290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66F60-BC56-438A-9CA3-C1E5ADFB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检查训练服务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68AEA-DB59-4117-8392-42DB7406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查看“API服务”和“数据库”。截图为已连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接、正常。服务不可用时先恢复连接，再执行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保存和管理操作。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586BB-29F7-44C3-8769-DEEDD2D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检查算法状态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7B258-7D50-4659-AAEE-19BCD62D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查看“Person检测”“身份识别”和“模型状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态”。可用表示模块已就绪，实际识别仍需要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有效视频帧。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1CFBA-A025-4162-BE85-D5FBF163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执行机位检查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0B262-E0DF-4CED-AA64-034E4F0A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点击右上“执行检查”。等待已配置机位探测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完成，再读取在线和异常数量；可悬停查看具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体结果。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78017-9818-48BC-AD3A-0D674FBF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检查本机资源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BAF52-0A12-4FF7-9A39-E7E670A9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查看“视频存储”和“分析任务”。存储未配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置时进入系统设置，任务异常时打开任务中心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查看详情。</a:t>
            </a:r>
          </a:p>
        </p:txBody>
      </p:sp>
    </p:spTree>
    <p:extLst>
      <p:ext uri="{BB962C8B-B14F-4D97-AF65-F5344CB8AC3E}">
        <p14:creationId xmlns:p14="http://schemas.microsoft.com/office/powerpoint/2010/main" val="223889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53FDA-FB8D-447E-B1F8-7CF139AA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系统状态：常见提示与处理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6EA3F-5A51-4D3C-88B2-94626FF9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先根据提示找到对应配置，再返回系统状态重新检查。手动检查不会替你修改连接参数或修复文件。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76EAB-8080-403C-92F3-1B9234E8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保存系统设置后，旧的机位检查结果会失效；需要重新执行检查。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0A12A-FACE-4E98-A785-536D9CBC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4572000"/>
                <a:gridCol w="5905500"/>
              </a:tblGrid>
              <a:tr h="74567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看到的提示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应如何理解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下一步操作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API未连接／数据库未知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训练数据服务当前不可用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检查服务启动与地址。恢复后再使用人员管理、保存和历史查询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Person可用、身份识别降级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检测和身份识别是两项独立能力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核对身份模型状态。检测可用不代表身份绑定已经正确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摄像头未检测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尚无可用的在线检查结果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先确认已配置IP，再点击“执行检查”并等待结束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摄像头异常／离线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对应机位连接或视频流失败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核对IP、账号、端口和流路径，进行连通测试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视频存储未配置／不可用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保存目录缺失或目录、磁盘不可用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进入“系统设置”的“存储”，核对路径、权限与空间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分析任务有失败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某个后台任务未正常完成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进入“任务中心”，选中该任务，查看错误信息和输入文件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9665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891B5-550E-4F0D-BA2F-1ADFE584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视频与摄像头：接入现场机位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31143-9A3C-4B45-8C66-E8C80D01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入口：左侧“系统设置”，选择“视频与摄像头”。公共连接参数统一填写，每个CAM编号单独维护IP。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957B1-7DD1-493A-8AC8-18DEFEB8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完成判断：所需机位连接正常，CAM编号与实际拍摄位置一致。30/60 FPS配置值不等于实际分析帧率。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B5E4F-0482-42CC-AEEC-8C2CFA7F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baa228f0e4af0"/>
          <a:stretch xmlns:a="http://schemas.openxmlformats.org/drawingml/2006/main"/>
        </p:blipFill>
        <p:spPr>
          <a:xfrm xmlns:a="http://schemas.openxmlformats.org/drawingml/2006/main">
            <a:off x="1032084" y="2095500"/>
            <a:ext cx="7651332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04362-33B0-43FD-A109-1976B48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填写公共RTSP参数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BA798-8CFB-45FE-B740-30D3D372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根据摄像头配置填写账号、密码、端口，以及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预览路径和主码流路径。截图值只是当前配置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示例。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2917E-7409-4512-B419-AFDC1A9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填写对应机位IP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E9934-A640-4638-95C6-7527439C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在CAM 01—12中填入实际机位地址。向下滚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动可以查看下方机位，未使用的机位保持未配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601B9-3705-4CC7-B6B5-A78217F7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测试并核对画面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79529-916E-4947-9A41-446C864B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点击“连通测试”，检查连接结果。失败时先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核对网络和参数，避免将同一设备填入错误机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191D7-8B6C-40C0-9F63-81D6075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保存并返回检查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FB094-46FC-4BEB-B1D8-D8795A60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点击“保存设置”使修改生效。返回系统状态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重新检查，再进入实时训练确认机位和画面一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致。</a:t>
            </a:r>
          </a:p>
        </p:txBody>
      </p:sp>
    </p:spTree>
    <p:extLst>
      <p:ext uri="{BB962C8B-B14F-4D97-AF65-F5344CB8AC3E}">
        <p14:creationId xmlns:p14="http://schemas.microsoft.com/office/powerpoint/2010/main" val="9105941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D00C2-311F-450F-B398-82BB2046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视频参数的含义与填写原则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7A73F-9F51-40BB-BC6E-0F8084F6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对应第06页“视频与摄像头”。现场参数以设备实际设置为准，已有配置可通过模板保存和复用。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2E877-C483-432D-A3AE-4179895C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主画面能播放实时流，并不自动证明历史录像可定位回放；NVR回放需要单独验证。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49CA5-FE82-4078-9F39-C48AA20F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191000"/>
                <a:gridCol w="6000750"/>
              </a:tblGrid>
              <a:tr h="74567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字段或工具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填写和使用要点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账号、密码、端口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建立摄像头RTSP访问连接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使用设备实际凭据和端口。设备配置不同，应先统一或核对接入条件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预览路径／预览FPS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配置多机位预览来源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路径须与设备一致。预览参数与AI目标FPS分别配置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主码流路径／主码流FPS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配置主画面的视频来源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用于重点观看的主画面；高码率会增加解码和网络负载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NVR回放模板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组织录像回放地址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按设备支持的通道、开始时间和结束时间格式配置并实测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CAM 01—12的IP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将固定机位编号对应到设备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填写实际IP，保持与场地标定、完整分析的编号一致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导入模板／导出模板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复用连接和机位配置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导入后仍需核对现场地址并测试。最终点击“保存设置”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6519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4E28B-DF87-4536-9B3C-F3C44E18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场地与轨迹：统一机位坐标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03C2E-7CDD-4599-8A42-E56F2B4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入口：系统设置中的“场地与轨迹”。让不同摄像头的画面位置映射到同一场地坐标，支撑二维轨迹和速度。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615EC-C2B8-4C04-A183-5490423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截图中的0—60米区间为现有配置示例。实际坐标必须来自现场测量，跑道底图只作示意。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9658F-3F92-4E9C-BC4E-6D983A89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b724db8cb4f42"/>
          <a:stretch xmlns:a="http://schemas.openxmlformats.org/drawingml/2006/main"/>
        </p:blipFill>
        <p:spPr>
          <a:xfrm xmlns:a="http://schemas.openxmlformats.org/drawingml/2006/main">
            <a:off x="1032084" y="2095500"/>
            <a:ext cx="7651332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EB02D-EEF3-4031-B7BE-C0B58044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选择参与轨迹的机位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EBE07-E55F-41EC-8BC9-1A7AE1BE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逐路核对CAM编号，并勾选“参与轨迹”。只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选择已完成现场配置、确实用于轨迹的机位。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77520-0685-43B7-94B9-B1A417B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填写实测空间信息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782A7-3BDE-483F-BE77-002862F3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按现场测量填写起点、终点、横向位置、高度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和朝向。米制位置与角度使用表头标注的单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CD460-527F-437C-8D51-FD706BD7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找到四点标定列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91303-F937-4347-9F9F-3124C4B7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向右拖动表格底部横向滚动条，找到“四点标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定”。双击对应机位的单元格填写映射点。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D8583-723D-42F8-B7B3-8705493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保存并观察轨迹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6F4A9-58A6-4F34-B072-759CA708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完成标定后点击“保存设置”。识别到运动员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后，在实时训练的二维滑行轨迹区核对位置。</a:t>
            </a:r>
          </a:p>
        </p:txBody>
      </p:sp>
    </p:spTree>
    <p:extLst>
      <p:ext uri="{BB962C8B-B14F-4D97-AF65-F5344CB8AC3E}">
        <p14:creationId xmlns:p14="http://schemas.microsoft.com/office/powerpoint/2010/main" val="1914547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1DA05-8D85-4658-A641-547CF9B1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四点标定的操作与结果核对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19745-6C04-4E3B-B34E-F2B58987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对应第08页表格右侧“四点标定”列。该列在当前截图右侧滚动区域内，需横向滚动后才能操作。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4E20A-12C8-4F9E-A93B-B70EF289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完成判断：已知点位能正确映射，运动员移动方向一致，跨机位轨迹无明显错位；误差需现场记录。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16949-5676-4FE3-A273-38C62DB9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46706-9F6C-461D-A461-9D176F69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1 选定四个参照点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41585-E053-45C2-AE5F-F0DD9BA6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在同一机位画面中选取四个可明确定位的冰面点，同时测量这些点在统一场地坐标系中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的位置。各机位使用同一坐标原点和方向。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DA2DB-49A2-41C9-90CE-54BBCC3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2 填写对应坐标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CEE8A-2E3C-4163-B3C8-5F7A0A21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双击“四点标定”单元格，逐行填写像素X、像素Y以及对应的场地米制坐标。每一行必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须描述同一个点，避免交叉配对。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E27D7-EB2C-4A95-916A-573CFE9A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3 确认并保存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D7AC9-86CF-4967-A0E3-74218BD7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0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检查四点分布，避免共线或过于集中。确认标定内容后，再点击系统设置底部“保存设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置”，使本次配置生效。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012C2-8A0A-4643-980A-C8B35A9D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4 使用实测点复核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AAB30-2D72-45A8-A2B6-D96F4220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143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在已知位置观察轨迹是否对应到同一地点，再检查跨机位衔接与速度是否合理。出现跳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变时先核对机位编号、点位配对和坐标单位。</a:t>
            </a:r>
          </a:p>
        </p:txBody>
      </p:sp>
    </p:spTree>
    <p:extLst>
      <p:ext uri="{BB962C8B-B14F-4D97-AF65-F5344CB8AC3E}">
        <p14:creationId xmlns:p14="http://schemas.microsoft.com/office/powerpoint/2010/main" val="19251767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35D3A-5BDD-4F16-B89F-C3F21003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AI分析：选择处理规模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D2821-D463-4A06-A593-9E630337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入口：系统设置中的“AI分析”。用于配置分析的视频流和处理负载，与主画面播放参数分开管理。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71122-32F8-439C-9770-EDEE9284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结果核对：模型状态正常、视频可持续播放。实际分析吞吐、延迟和长期稳定性需要在现场负载下测量。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08C07-AD5D-4AB2-8147-6EAAB21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cf0b06a5f4796"/>
          <a:stretch xmlns:a="http://schemas.openxmlformats.org/drawingml/2006/main"/>
        </p:blipFill>
        <p:spPr>
          <a:xfrm xmlns:a="http://schemas.openxmlformats.org/drawingml/2006/main">
            <a:off x="1032084" y="2095500"/>
            <a:ext cx="7651332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CD1B9-F82F-4A87-AE24-0C4C79F5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选择模型精度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BCEB0-DF37-4250-84CE-53985528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在“模型精度”中选择适合设备的设置。调整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后观察实际识别和运行状态，再决定是否提高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负载。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0FBB7-C7F7-4313-9045-D7142371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选择分析流来源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28DA0-7060-4A0D-B57D-3336627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截图为“预览流”，适合多机位分析。界面说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明主视图仍优先播放主码流，两者用途不同。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D9213-DE7E-46C1-964D-73AA6905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设置FPS和路数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E97E8-5DC5-4C99-A2B0-A0824017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填写“分析目标FPS”和“最大分析路数”。截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图为5 FPS、12路，表示目标上限，不是实测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性能。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65393-595F-467F-8357-7994C7B0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设置自动降级并保存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946D1-8753-4648-BCBA-AE3DCE3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勾选后，超载时降低非主机位分析频率，优先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保持主机位连续性。点击“保存设置”后验证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效果。</a:t>
            </a:r>
          </a:p>
        </p:txBody>
      </p:sp>
    </p:spTree>
    <p:extLst>
      <p:ext uri="{BB962C8B-B14F-4D97-AF65-F5344CB8AC3E}">
        <p14:creationId xmlns:p14="http://schemas.microsoft.com/office/powerpoint/2010/main" val="791418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D7E17-3F6F-4D72-85C9-2DA0C800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存储：保存位置与清理候选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0C19A-4925-4B84-AE9E-1CC18D6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入口：系统设置中的“存储”。管理视频保存位置、容量限制和保留天数，清理范围为已登记的本机视频资产。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728B1-DE9D-434B-A3AF-D7A4DDA8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截图解读：已登记0.0 MB、候选0个、磁盘容量未知。训练记录保留，也不代表删除后的录像仍可回放。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D46A6-7BAD-4A5F-80A0-0E1A844C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9e7eb49bc44ba"/>
          <a:stretch xmlns:a="http://schemas.openxmlformats.org/drawingml/2006/main"/>
        </p:blipFill>
        <p:spPr>
          <a:xfrm xmlns:a="http://schemas.openxmlformats.org/drawingml/2006/main">
            <a:off x="1032084" y="2095500"/>
            <a:ext cx="7651332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5D22B-9652-4844-B792-BB286CF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选择录像根目录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E6C0A-9B9B-42B5-A206-78AE07E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点击“浏览”选择目录，确认所在磁盘可访问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并有空间。输入框中的默认路径提示不代表已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完成配置。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FC230-5BA6-4436-813B-7D38BB4A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设置保留策略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4D2E4-4F81-49FD-9B83-78F67C46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根据场地需要设置“容量限制”和“保留天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数”。截图50 GB、60天仅用于说明当前设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B690F-95F0-4FF1-8316-8C71BBF5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扫描登记的资产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59966-1ACD-4E80-9506-E59766D3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点击“扫描”，查看已登记文件容量和清理候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选数量。扫描结果只覆盖系统已登记的本机文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02113-E60C-4806-8F22-8931F67B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核对候选后处理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7A896-8A5F-401D-A952-BD48D904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点击“清理候选”查看具体文件，再决定是否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清理。需要保留的录像应先备份，配置修改后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点击保存。</a:t>
            </a:r>
          </a:p>
        </p:txBody>
      </p:sp>
    </p:spTree>
    <p:extLst>
      <p:ext uri="{BB962C8B-B14F-4D97-AF65-F5344CB8AC3E}">
        <p14:creationId xmlns:p14="http://schemas.microsoft.com/office/powerpoint/2010/main" val="7263887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49D88-BA33-4E75-9D13-DCFE2DC7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人员管理：建立可选用的档案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37739-23AE-44CF-971E-DBAE0BA0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入口：左侧“人员管理”。运动员和教练档案供训练设置使用，统一姓名、编号及训练资料。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B67BE-C833-453F-A506-7C874556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完成判断：档案保存成功，训练设置中可以选择该人员。身份识别样本需先保存运动员后再维护。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EAB7B-FAEE-413E-9283-F9DF6373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f216e422647a8"/>
          <a:stretch xmlns:a="http://schemas.openxmlformats.org/drawingml/2006/main"/>
        </p:blipFill>
        <p:spPr>
          <a:xfrm xmlns:a="http://schemas.openxmlformats.org/drawingml/2006/main">
            <a:off x="753854" y="2095500"/>
            <a:ext cx="8207793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D1472-AD53-481D-9712-E4FB512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选择人员类型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09D11-6E5C-4CFB-9512-BAD575EC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点击“运动员”或“教练”。已有人员可通过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姓名或编号搜索，然后选中左侧列表中的档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BB9D2-7D90-46A0-8329-759507E9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新增或修改资料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89D57-443F-4AB6-9F81-C9B3B266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点击“新增运动员”，或编辑右侧当前档案。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填写姓名、编号、项目等信息，按需维护伤病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A83AD-6B81-4A0A-87E9-CD95A6CD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保存并用于训练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E7E34-5A1E-429A-B20D-F2F91991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点击右下“保存”。返回实时训练的“训练设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置”，从对应下拉框选用已保存的运动员或教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2182C-F0C6-47AE-9AD6-2041330D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停用时使用归档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5EB4F-D062-46DD-837D-3A262790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归档后该人员退出后续训练选择，历史关联保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留。先确认选中的人员，避免误归档。</a:t>
            </a:r>
          </a:p>
        </p:txBody>
      </p:sp>
    </p:spTree>
    <p:extLst>
      <p:ext uri="{BB962C8B-B14F-4D97-AF65-F5344CB8AC3E}">
        <p14:creationId xmlns:p14="http://schemas.microsoft.com/office/powerpoint/2010/main" val="2102087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D3716-4C33-4B0F-B6D3-9E79B62E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比赛管理：维护比赛及场次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6D4E3-1163-476D-8318-2FF5891B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入口：左侧“比赛管理”，历史复盘顶部也有同名入口。按比赛、场次、参赛运动员的层级维护资料。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D493C-7313-43A9-AB84-69F46AA1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截图解读：列表为测试比赛，右侧展示比赛资料和场次。参赛人员区域需继续向下滚动查看。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D4740-C3A4-4898-A0FE-1789C917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790198e7e4370"/>
          <a:stretch xmlns:a="http://schemas.openxmlformats.org/drawingml/2006/main"/>
        </p:blipFill>
        <p:spPr>
          <a:xfrm xmlns:a="http://schemas.openxmlformats.org/drawingml/2006/main">
            <a:off x="684296" y="2095500"/>
            <a:ext cx="8346908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3E376-ABE4-4031-98D7-2841E98C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选择或新增比赛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EE34F-4EF2-4898-9B52-3467FA79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在左侧搜索已有比赛，或点击“新增比赛”。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右侧填写名称、类型、地点和备注，日期按需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设置。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9994B-87B1-4831-B387-AF1E91A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先保存比赛资料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B9DFD-BA4B-4BB3-9300-E754F15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点击比赛资料区的“保存”。父级比赛保存成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功后，再维护其下属场次，避免记录没有归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属。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7AD47-B2B3-4DA0-A6E2-7901560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新增或编辑场次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2934F-78BF-4F2C-98C2-9BDF054B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点击“新增场次”，填写场次名称、项目、组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别、轮次及计划时间。向下滚动查看后续保存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8A897-0325-48AF-AF4B-8830A572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维护参赛关系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732B2-FE5B-4A3D-A558-39913829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在场次下选择已有运动员。返回训练设置选择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该比赛与场次，使训练记录可以按赛事查询。</a:t>
            </a:r>
          </a:p>
        </p:txBody>
      </p:sp>
    </p:spTree>
    <p:extLst>
      <p:ext uri="{BB962C8B-B14F-4D97-AF65-F5344CB8AC3E}">
        <p14:creationId xmlns:p14="http://schemas.microsoft.com/office/powerpoint/2010/main" val="1972763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4AFFC-77FF-4199-9D6E-175D35AF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比赛、场次与训练记录的对应关系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4D7D7-C8E9-48F6-ADAA-FF665B1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对应第13页“比赛管理”和第15页“训练设置”。保持先维护上级、再维护下级的顺序。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7652A-0E0F-4516-8CE7-4B1FB08D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移出参赛运动员只归档参赛关系；人员档案与既有历史记录仍保留。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8567F-5944-49FE-B46F-1F15463E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381625"/>
                <a:gridCol w="5857875"/>
              </a:tblGrid>
              <a:tr h="869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在什么位置维护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保存后如何使用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比赛管理右侧的比赛资料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作为场次的上级。可在训练设置中关联，并在历史复盘中筛选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场次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当前比赛下方的比赛场次与场次详情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关联组别、轮次、计划时间。更换比赛后需重新核对场次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参赛运动员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当前场次的参赛人员区域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从已有档案选择，同一场次不重复添加同一个人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本次训练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实时训练中的训练设置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选择运动员、比赛和场次，保存训练时写入对应业务关系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历史复盘的比赛及更多筛选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按比赛或场次缩小记录范围，再核对当前训练详情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6317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B75B4-3CE9-4DE8-BCAC-F15EDCCD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训练设置：确定本次训练对象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71E91-11C4-4652-BE02-FB818EA5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入口：实时训练右侧“训练设置”。侧边抽屉集中设置本次参与人员、训练内容及分析参数。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0835A-B9D8-4EDA-BF07-9BF263AC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开始前必须选好运动员和动作标准。抽屉内容可滚动，当前截图未展示最下方全部字段。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EBDE2-50AA-44A6-B570-FB57A74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fe2c138954944"/>
          <a:stretch xmlns:a="http://schemas.openxmlformats.org/drawingml/2006/main"/>
        </p:blipFill>
        <p:spPr>
          <a:xfrm xmlns:a="http://schemas.openxmlformats.org/drawingml/2006/main">
            <a:off x="765435" y="2286000"/>
            <a:ext cx="3755505" cy="50482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e435a0d9a4091"/>
          <a:stretch xmlns:a="http://schemas.openxmlformats.org/drawingml/2006/main"/>
        </p:blipFill>
        <p:spPr>
          <a:xfrm xmlns:a="http://schemas.openxmlformats.org/drawingml/2006/main">
            <a:off x="5204940" y="2286000"/>
            <a:ext cx="3829995" cy="5048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3D277-D037-4062-956B-9E7C5ACD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设置区上半部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224E3-0618-4D0A-BAD9-771B892B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设置区下半部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9305A-74D9-47F5-8047-443CC150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选择运动员与教练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AE53A-A021-4871-A8BB-4C12AFC8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核对“运动员”和“教练”。档案不存在时，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可通过旁边新增入口维护后再选择。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81377-DF23-42E6-AE08-1646F5DC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补充多人参与者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AE155-4F1D-4B6B-AEF0-44BF3306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按实际情况选择“参与2”“参与3”“参与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4”。这些字段登记参与关系，多人识别效果需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另外核验。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C0B97-503E-412B-8138-A5240C19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填写训练业务信息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EA827-56AE-41D4-8E01-81D6712C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选择比赛、场次及动作标准，填写场地、训练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阶段和本次目标。日常训练可不关联比赛。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3390E-737F-4155-BDD4-F7136315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检查后返回主界面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37973-7180-4034-ADB9-8F75CEC4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按需要调整模型精度、分析帧率，滚动检查下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方参数。关闭抽屉后再次核对当前运动员。</a:t>
            </a:r>
          </a:p>
        </p:txBody>
      </p:sp>
    </p:spTree>
    <p:extLst>
      <p:ext uri="{BB962C8B-B14F-4D97-AF65-F5344CB8AC3E}">
        <p14:creationId xmlns:p14="http://schemas.microsoft.com/office/powerpoint/2010/main" val="924576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638A1-27A5-4107-B9D9-B5807906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训练设置：字段怎样影响记录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C0633-3DF4-4623-B017-788E4639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对应第15页。将本次实际情况写入训练上下文，便于后续检索、回看和教练复核。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F54E3-B021-4AC5-94DE-74AB9BE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示例填写应替换为真实人员和训练安排；截图中的“测试运动员”和测试比赛不应直接用于现场归档。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61BC8-F7B1-4EC6-A916-46C5026C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762500"/>
                <a:gridCol w="6000750"/>
              </a:tblGrid>
              <a:tr h="74567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应填写什么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作用或注意事项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运动员、教练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本次训练的主运动员及指导教练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运动员与实时检查器同步。保存前再核对，避免把结果归给错误人员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参与2—4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同场参与的其他运动员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登记最多4人的参与结构，不能据此判断跨镜身份识别已经稳定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比赛、场次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实际关联的赛事与具体场次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先维护赛事资料。日常训练可保持未关联，避免误归入比赛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场地、阶段、目标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实际地点、热身等阶段及训练目的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这些信息保留在训练记录中，帮助复盘时了解当时安排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动作标准、编辑标准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本次使用的动作项目及标准版本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开始训练与保存都需要有效动作标准。标准配置不等于自动评分已完成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模型精度、分析帧率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本次使用的分析偏好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影响分析配置，目标帧率应结合设备实际能力检查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9287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25A77-C5EA-4251-BC1C-97CCE238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实时训练：画面与结果的位置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14C3E-133A-4B73-BFB8-EF9E4DBC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入口：左侧“实时训练”。先通过机位画面确认视频，再通过右侧信息确认对象和状态。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A2F45-31D0-429F-85DB-96ADE4B9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截图处于未开始训练状态，主视频未配置、部分机位离线，不能作为现场视频或轨迹效果展示。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12576-4A02-48E2-870C-6A775D10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872af469748ed"/>
          <a:stretch xmlns:a="http://schemas.openxmlformats.org/drawingml/2006/main"/>
        </p:blipFill>
        <p:spPr>
          <a:xfrm xmlns:a="http://schemas.openxmlformats.org/drawingml/2006/main">
            <a:off x="571500" y="2327672"/>
            <a:ext cx="8572500" cy="482203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64A09-5255-407D-BA33-B4981686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上方主视频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2C9E0-EE35-4D16-863C-864BD97F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展示当前选中的重点观察机位。左上CAM编号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用于确认正在查看哪个摄像头。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B7596-22D9-419B-B61D-ED45C7DA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右下12路预览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90E2A-F19A-4500-958C-2D0BE738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点击对应CAM切换观察机位。未配置、离线等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文字帮助区分没有地址和连接失败。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27349-ABCA-4B7B-9D8C-8768AB8D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左下二维滑行轨迹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7D45B-01E3-43C2-8596-0327200F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显示当前运动员的场地轨迹。需要识别到运动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员并完成场地标定，空状态说明尚无可显示数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25B0B-7EDE-4054-923E-D8D46C35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右侧对象与控制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C7CC7-54E4-4695-8DBC-0432AB3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上方查看当前运动员、时长、速度及AI状态，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下方进行训练设置、身份绑定、开始、停止和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保存。</a:t>
            </a:r>
          </a:p>
        </p:txBody>
      </p:sp>
    </p:spTree>
    <p:extLst>
      <p:ext uri="{BB962C8B-B14F-4D97-AF65-F5344CB8AC3E}">
        <p14:creationId xmlns:p14="http://schemas.microsoft.com/office/powerpoint/2010/main" val="4062246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6AF63-3DE5-40BA-8CE2-9D0D422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实时训练：开始、暂停、结束与保存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DA0CC-0CCA-4FD8-B306-91D8EFFF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对应第17页右侧控制区。保存训练记录是单独操作，停止播放后还需确认记录是否成功保存。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EDD36-E802-4055-96C3-5A0A9A3C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保存条件：已累计训练时长，服务可用，并已选择运动员和动作标准。无可用录像来源时不能据此承诺回放。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6D722-F0BB-4941-A3DC-3469EC4B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ff3f0f33f4998"/>
          <a:stretch xmlns:a="http://schemas.openxmlformats.org/drawingml/2006/main"/>
        </p:blipFill>
        <p:spPr>
          <a:xfrm xmlns:a="http://schemas.openxmlformats.org/drawingml/2006/main">
            <a:off x="2028921" y="2095500"/>
            <a:ext cx="5657659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33A96-B4B0-44F6-955C-01F9CA3B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开始训练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01512-0567-4277-AADA-D8E029F3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确认服务、运动员、动作标准和视频来源后点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击“开始训练”。观察时长累计及主画面是否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正常。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164D3-5032-4F0A-8C20-C9BDD233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中途暂停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D1C95-0509-46AA-8979-BCE68DF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点击“暂停”，视频与分析暂停。恢复时点击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“继续训练”，再观察时长、画面及AI状态。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AF789-4EE4-4F4D-8239-36691560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结束当前训练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94D0A-8277-4466-A7BC-C23CE56F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点击“停止”结束采集。不要立即开始新一轮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训练，先完成本轮保存和结果核对。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4086E-476D-4412-97DA-C26942DD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保存并到历史核对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CDEDA-7B75-4120-A56B-2B321895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点击“保存训练记录”，查看保存提示。进入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历史复盘按人员和日期查询，核对时长、来源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及上下文。</a:t>
            </a:r>
          </a:p>
        </p:txBody>
      </p:sp>
    </p:spTree>
    <p:extLst>
      <p:ext uri="{BB962C8B-B14F-4D97-AF65-F5344CB8AC3E}">
        <p14:creationId xmlns:p14="http://schemas.microsoft.com/office/powerpoint/2010/main" val="16595971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43618-8E44-4D5C-8E0E-2F4BCF98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身份识别与人工绑定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F328A-6A54-4575-8977-24CD7812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入口：实时训练右侧“人工身份绑定”。适合当前机位存在未知身份、低置信度或错误关联时进行人工确认。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9E6B6-8231-47A1-8AAB-F8028E06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对应界面位置见第17—18页。身份绑定弹窗未包含在所供截图中，本页操作依据当前程序实现。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4B5E4-9FE9-41E5-9993-42486558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7CEA0-76E5-4C8B-97B3-830D3D5C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先确认画面中的人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68129-1FD5-44F0-8685-DB6A23BC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观察当前机位视频和检测目标，核对“当前运动员”。切换下拉框选择档案与把检测目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标绑定到档案是不同操作。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E5079-91CA-4405-8D26-67F97F8A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打开人工身份绑定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7CD5B-4D5F-4ADA-944E-3330A1A0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点击“人工身份绑定”，在弹出的表格中查看机位、trackId、当前身份和“绑定到”。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trackId表示该机位的跟踪目标编号。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E06E6-3AE7-405C-A9E8-8089743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逐个核对并绑定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4AB36-E9ED-4B47-81B2-AFA73DE5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0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确认目标对应哪个实际运动员，再为该行选择正确档案并确认。当前没有检测目标时，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应先恢复视频和检测，再进行绑定。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DA768-4663-4B27-9D80-1476BB23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回到训练检查结果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75DE9-4A43-4FEF-B9B8-A126B56B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143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观察身份显示与后续结果归属。人工绑定只作用于当前机位的跟踪目标，跨机位连续识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别和多人交叉仍需真实场景验证。</a:t>
            </a:r>
          </a:p>
        </p:txBody>
      </p:sp>
    </p:spTree>
    <p:extLst>
      <p:ext uri="{BB962C8B-B14F-4D97-AF65-F5344CB8AC3E}">
        <p14:creationId xmlns:p14="http://schemas.microsoft.com/office/powerpoint/2010/main" val="13938199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9A32A-676C-49C7-98DA-14DA2C48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历史复盘：查找一次训练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2F2D0-58A5-4126-B545-A754CCAF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入口：左侧“历史复盘”。筛选区决定查询范围，左侧记录列表决定右侧操作的对象。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B1BF4-17F0-4DCA-A6DA-96E122DE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完成判断：右侧当前训练详情与要回看的训练一致。列表中已有分数不代表当前版本会自动生成新评分。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B992C-B20D-4281-A357-5F072972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82db185024605"/>
          <a:stretch xmlns:a="http://schemas.openxmlformats.org/drawingml/2006/main"/>
        </p:blipFill>
        <p:spPr>
          <a:xfrm xmlns:a="http://schemas.openxmlformats.org/drawingml/2006/main">
            <a:off x="571500" y="2354960"/>
            <a:ext cx="8572500" cy="476745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14CDD-8584-46FA-AADD-1206C77B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设定查询条件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A2E46-79C4-4D49-9CB7-A4B540F7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选择运动员、来源和比赛。需要按日期筛选时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勾选开始、结束日期，再点击“查询”。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9A2A9-7EBF-4A42-8742-05ECAB7F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使用更多筛选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34E23-C4C1-429E-9FCF-3AA46E11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教练、动作、场次等条件在“更多筛选”中。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结果过少时检查条件，必要时“重置”后重新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查询。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10CBA-9AFB-4C3B-AE36-CC3FE335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选中准确记录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8C646-84A2-42B2-8105-9A19C17B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核对列表中的姓名、时间和来源。可调整排序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并翻页，点击记录后右侧显示当前训练详情。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8A2E1-DCEB-4078-93B5-E74D7FC2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核对详情再操作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D3349-3E9A-498D-B981-AB348836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确认姓名、日期、比赛场次和录像来源，再点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击播放、复盘校准、轨迹速度、批注或导出报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告。</a:t>
            </a:r>
          </a:p>
        </p:txBody>
      </p:sp>
    </p:spTree>
    <p:extLst>
      <p:ext uri="{BB962C8B-B14F-4D97-AF65-F5344CB8AC3E}">
        <p14:creationId xmlns:p14="http://schemas.microsoft.com/office/powerpoint/2010/main" val="1275920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3C46F-E584-46F7-8CA2-6BB1BF6D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历史复盘：每个按钮处理什么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011B2-E2EE-4272-94FA-59BDC65A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对应第20页右侧当前训练详情。先选中记录，再使用下列操作，避免把修改或导出应用到其他训练。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3647F-EE1F-4772-B38D-3FF425AB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轨迹数据另有CSV／XLSX导出路径。所供截图未展示其子窗口，本页不将未出现的结果图作效果示例。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B62D1-CF52-4BB5-90C2-1E2D24A3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4714875"/>
                <a:gridCol w="6000750"/>
              </a:tblGrid>
              <a:tr h="74567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按钮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具体用途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使用前后要确认什么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播放录像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打开当前训练关联的视频来源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来源可访问且对应本次训练。缺少有效媒体时无法完成画面回看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复盘校准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进入片段回看与人工复核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检查片段时间、有效性和已有评分，保存后仍关联当前训练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轨迹／速度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查看已保存的轨迹和速度数据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数据依赖实际采集与标定。无数据时不能从跑道示意推断结果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编辑批注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记录教练对本次训练的文字意见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核对训练对象，保存后检查详情中的教练批注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导出当前记录的训练资料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核对导出对象和已有字段，报告内容取决于实际已保存的数据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动作检索／报告中心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在页面级入口查找动作或管理报告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入口位于历史复盘右上方，作用范围与单条记录按钮不同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9750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CFD46-949F-4831-87DB-10144F0A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复盘校准：录像、参考与片段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10A36-7EFB-4435-8574-2E53CAA2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入口：历史复盘选中记录后点击“复盘校准”。上半区回看视频，下半区选择动作并进行人工复核。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91926-D01C-40AE-9BFE-62988A19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截图中训练回放尚无画面，标准参考也未配置。需要先提供可访问的媒体来源才能完成对照观察。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9EF1E-DA37-41B5-A05E-A7D7FD3B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67896bf8d47c0"/>
          <a:stretch xmlns:a="http://schemas.openxmlformats.org/drawingml/2006/main"/>
        </p:blipFill>
        <p:spPr>
          <a:xfrm xmlns:a="http://schemas.openxmlformats.org/drawingml/2006/main">
            <a:off x="701479" y="2095500"/>
            <a:ext cx="8312542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0241B-E027-42FD-A6A2-44F831E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选择动作片段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4142F-9B59-4B14-80ED-79A0CDF4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点击左下动作片段列表中的一行，核对起止时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间。上一段、下一段用于在已有片段间切换。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106E8-600F-4135-AC5D-4A5616C7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慢放和逐帧观察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298D0-53E6-4E6C-AFA5-E26C38B8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使用播放、暂停、0.25x、0.5x、1x及逐帧按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钮。有效本地录像能支持更完整的定位回看。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17574-BB63-44BA-B1FF-903B0646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配置标准参考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AB0C7-58EF-4B64-983C-370EC4C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右上点击“选择参考”或“编辑来源”，填写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参考说明后“保存参考”，用于与训练录像对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A98CE-BC62-4E3E-BEDF-3B264449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进入当前动作复核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4912A-6170-477E-B171-30F3F7D0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在右下检查开始、结束时间和有效动作状态。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确认修改对象后再调整评分及其他复核信息。</a:t>
            </a:r>
          </a:p>
        </p:txBody>
      </p:sp>
    </p:spTree>
    <p:extLst>
      <p:ext uri="{BB962C8B-B14F-4D97-AF65-F5344CB8AC3E}">
        <p14:creationId xmlns:p14="http://schemas.microsoft.com/office/powerpoint/2010/main" val="19544063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ED38D-DAD0-4891-86D3-CE27B3B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复盘校准：人工修正与保存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4F931-C1EC-4E54-8F07-F1D85855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对应第22页下半区。每次修改围绕当前选中动作进行，先核对片段，再保存人工判断。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EF93C-F9DC-44CF-AEFE-C1B5A9CD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没有录像时仍可维护已有人工复核信息，但缺少画面依据。当前新训练不自动产生动作计数、技术评分或3D骨架。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32620-67BA-4D60-B214-9CB4537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943563cac4e21"/>
          <a:stretch xmlns:a="http://schemas.openxmlformats.org/drawingml/2006/main"/>
        </p:blipFill>
        <p:spPr>
          <a:xfrm xmlns:a="http://schemas.openxmlformats.org/drawingml/2006/main">
            <a:off x="571500" y="3548434"/>
            <a:ext cx="8572500" cy="23805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BF250-CEB1-43A1-953C-16FCC57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校正开始和结束时间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7FCE4-3094-4103-A199-2E15663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在“当前动作复核”中填写毫秒值。1000 ms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等于1秒，结束时间应晚于开始时间并落在录像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范围内。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637AE-F70D-4787-B08A-B23F51D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确认有效性与分数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93DC9-CB5D-4151-A0C1-14203E15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根据录像判断“有效动作”，核对总分及各项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已有评分。数值应来自实际复核，不能把示例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分数照搬。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EE461-4684-492A-BAC6-9EFB9D2B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补充遗漏片段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D37EC-A497-483D-9489-73C006FD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需要人工补录时点击“新增手动动作”，然后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填写该片段的起止时间及相关复核信息。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67727-8A92-483F-8E31-D19EA758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保存并重新核对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9178D-4F93-4EBF-B012-F08E94FC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点击“保存复核”。保存后核对仍选中正确动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作，并检查片段列表与时间、结果是否一致。</a:t>
            </a:r>
          </a:p>
        </p:txBody>
      </p:sp>
    </p:spTree>
    <p:extLst>
      <p:ext uri="{BB962C8B-B14F-4D97-AF65-F5344CB8AC3E}">
        <p14:creationId xmlns:p14="http://schemas.microsoft.com/office/powerpoint/2010/main" val="4452719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6C99D-5BE5-4499-A465-0BDD8F8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导入视频：准备离线训练来源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6F599-C6C2-4B5A-BBE0-480BAECF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入口：顶部“导入视频”，进度在“任务中心”查看。普通离线导入用于准备本地视频，完成后继续训练和保存。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4F82B-3EA0-4A48-B778-33912A1D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截图解读：所选导入任务已完成，但“输出训练”为“—”。这张图只能说明导入任务状态，不能证明训练记录已保存。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0FE70-6EC6-4404-9B7A-D1ED2446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1751504df41c0"/>
          <a:stretch xmlns:a="http://schemas.openxmlformats.org/drawingml/2006/main"/>
        </p:blipFill>
        <p:spPr>
          <a:xfrm xmlns:a="http://schemas.openxmlformats.org/drawingml/2006/main">
            <a:off x="571500" y="2123349"/>
            <a:ext cx="8572500" cy="52306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CC085-13C2-4320-AAAD-F36E4F2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先结束当前训练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9FFD0-192A-4183-ACF7-18A49F8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如正在训练，先完成停止或保存。点击顶部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“导入视频”，在文件选择窗口选取本地视频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文件。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1964E-15C7-41EB-9284-A963000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在任务中心查看准备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AA8F1-2729-4BAA-A9CB-897B3DA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点击“任务中心”，选中对应“离线视频导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入”。核对输入文件名、创建时间和状态，避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免看错任务。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9AFFC-A252-463C-BE3E-61974ACB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准备完成后开始训练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16B45-C619-4DB0-A572-8EB66D14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导入准备完成后主画面切换到该视频。回到实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时训练核对运动员和动作标准，再点击“开始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训练”。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E535E-6621-4E80-AB9B-2E6BB9F2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训练结束后另行保存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844CF-DE2E-46E7-B028-B158301A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停止并保存训练记录，再到历史复盘检查来源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和记录。导入进度100%本身不能代替这一步。</a:t>
            </a:r>
          </a:p>
        </p:txBody>
      </p:sp>
    </p:spTree>
    <p:extLst>
      <p:ext uri="{BB962C8B-B14F-4D97-AF65-F5344CB8AC3E}">
        <p14:creationId xmlns:p14="http://schemas.microsoft.com/office/powerpoint/2010/main" val="8799379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3B2C2-4294-47CB-B004-D6756484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任务中心：状态与可用操作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7C9E9-F231-49EC-89BB-4DEE2850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对应第24页任务中心。先看任务类型，再看状态和错误信息；不同任务类型的按钮并不完全相同。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86319-7842-4B8D-8C0E-E98B4E7E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状态筛选只筛选当前已加载任务；“刷新”才会调用任务同步。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ADE52-FB55-4294-B8A1-D2660207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6048375"/>
                <a:gridCol w="4667250"/>
              </a:tblGrid>
              <a:tr h="74567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如何查看或处理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结果核对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查找目标任务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使用状态筛选，选中左侧任务；需要同步时点击刷新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核对任务类型、输入文件和创建时间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离线导入进行中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按当前可用按钮暂停、继续或取消任务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暂停与继续仅适用于离线视频导入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选中失败任务，查看“错误信息”和输入摘要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修正对应文件或环境问题后，再执行合适的重试或重新提交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任务已完成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查看进度和“输出训练”区域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有输出记录时继续打开核对；输出为空时不能直接认定训练归档成功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完整分析任务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查看总体状态，回到“完整分析”管理当前分析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取消、重试和结果激活按分析状态开放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需要排查输入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展开“查看原始输入”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用于进一步核对任务参数，日常操作先看可读的输入摘要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7356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B953F-3F9D-4974-8D9D-DF6E8405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完整分析：创建12路离线批次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C955F-0B05-48BE-B7A5-F20E12F4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入口：顶部“完整分析”。用于组织同一训练场景的12路录像，由分析服务执行完整帧率离线处理。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E8E92-4294-4B51-AFEA-F48D8357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截图中12路源均待配置，尚未创建分析批次。页面存在不等于已有12路实际处理结果。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8A2E2-A82A-41F5-A8E1-2AB5EE46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24f16cd9b41ab"/>
          <a:stretch xmlns:a="http://schemas.openxmlformats.org/drawingml/2006/main"/>
        </p:blipFill>
        <p:spPr>
          <a:xfrm xmlns:a="http://schemas.openxmlformats.org/drawingml/2006/main">
            <a:off x="1046642" y="2095500"/>
            <a:ext cx="7622215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1689C-B330-4AD4-BD9D-EE7E556B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① 准备同一批录像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AE1A3-60DF-44FE-8E11-3B5BAF8D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整理CAM 01—12对应视频，确认机位编号和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时间关系。训练设置中的参与人员也应提前核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EA0F9-FEBC-4811-9E0C-94B2EDE9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② 填写NAS根目录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F5076-F7CB-4001-A058-BEE666D5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38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设置Windows可访问的NAS根目录，用于映射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到分析端可访问的来源。与普通本机视频导入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入口分开。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D1DDF-1C51-49CE-AFD6-7293FF10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③ 配置12路输入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27C05-F66A-4A14-BFDF-A464D482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逐路填写NAS URI及视频时间信息，或使用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“导入清单”。向下滚动检查CAM 11和CAM 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12。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E0634-142B-4C7D-A79C-0F0A81D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7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④ 创建并跟踪分析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B9796-9460-42CB-9F5A-DB2C3631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674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点击“创建并开始分析”，查看“当前分析”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及任务中心状态。失败时先检查提示，再调整</a:t>
            </a:r>
          </a:p>
          <a:p xmlns:a="http://schemas.openxmlformats.org/drawingml/2006/main">
            <a:pPr>
              <a:def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配置。</a:t>
            </a:r>
          </a:p>
        </p:txBody>
      </p:sp>
    </p:spTree>
    <p:extLst>
      <p:ext uri="{BB962C8B-B14F-4D97-AF65-F5344CB8AC3E}">
        <p14:creationId xmlns:p14="http://schemas.microsoft.com/office/powerpoint/2010/main" val="666776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182AC-5D18-44B3-852B-BF5833D8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完整分析：12路输入字段说明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E5AAA-FEC2-4282-B9EE-48F46F50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对应第26页源配置表。所有来源应指向同一训练批次，并使用可核对的统一时间基准。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C75DC-51F1-4516-8040-134CB4BC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填写完成后检查表格状态。输入结构正确仍需通过真实批次确认解码、时间对齐和输出保存是否正常。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23C15-84DB-4B67-86FD-7149A047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5095875"/>
                <a:gridCol w="5619750"/>
              </a:tblGrid>
              <a:tr h="74567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含义与格式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填写或核对方法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机位／NAS URI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CAM 01—12；来源使用nas:// URI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每个cameraId唯一，清单必须覆盖1—12。核对源与现场机位一致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分辨率／FPS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录像本身的画面大小与帧率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根据视频实际信息填写，不能用实时AI目标FPS替代视频原始FPS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当前录像的有效长度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界面示例格式00:05:30。确认12路覆盖所需的共同训练时段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源开始时间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该来源录像开始的时间基准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填写带时区的完整时间，例如</a:t>
                      </a:r>
                    </a:p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2026-09-09T10:30:00.000Z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校正ms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按来源修正的时间偏移量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单位为毫秒，应根据同步校验结果填写，不随意假设所有机位为0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567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NAS根目录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客户端路径到分析来源的映射根目录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确认客户端路径和分析端映射均可访问同一批视频，再创建任务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3939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02DBA-3E71-4993-A98F-5D96C744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完整分析：执行、重试与结果激活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76954-BD2B-4020-B52D-91DC2009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对应第26页“当前分析”区域。按钮随状态开放，按当前状态处理，避免重复创建同一批任务。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27C13-9E20-4360-909A-4D1C1BB8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完成判断包含输入、处理、输出保存和复盘核对。仅进度完成或按钮可点击不足以证明全流程已验收。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009F4-B599-4B67-86C6-0040E265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5095875"/>
                <a:gridCol w="5334000"/>
              </a:tblGrid>
              <a:tr h="869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可进行的处理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应检查的内容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排队／运行中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需要终止时使用“取消分析”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核对当前批次是否正确，任务是否有持续更新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部分完成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按情况取消或重试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查明哪些来源未完成及原因，避免把部分输出当成完整结果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失败／已取消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问题修复后使用“重试”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核对文件访问、输入信息和失败提示，保存排查依据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完成且未激活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确认结果后使用“激活结果”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核对本次批次、参与人员以及输出内容是否正确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结果进入后续业务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打开相应训练记录进行复盘核对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检查人员归属、轨迹速度和录像关联，保留可回看的验证记录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3946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F6E32-0253-4FC7-A58D-67D10088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操作示例：一次本地录像训练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4C30B-74D9-44BF-800C-819A9948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示例场景：已有一段本地训练录像，需要关联到运动员，保存训练记录，并由教练回看。姓名和日期请替换为实际信息。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566D3-346B-4C21-91CF-7CE5CBE0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记录没有自动评分属于当前能力边界。需要技术评分时应以教练复核和后续专项算法集成为依据。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5D2F7-6644-4C98-9569-91023F39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05226-B6FD-4A34-B4D9-B03B704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准备与导入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3F08D-9551-45BC-B300-2D3BB17C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人员管理保存真实运动员档案。训练设置选择该运动员与动作标准，填写场地和目标。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点击“导入视频”选择录像，在任务中心核对准备完成。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356D4-5B55-4AB5-93AC-423865FC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开始与观察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DEABD-1B44-4A4F-ACB7-00FF74D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回到实时训练确认已切换到所选录像，点击“开始训练”。观察视频与训练时长，核对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识别身份；需要时使用人工身份绑定。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957A6-174F-42FF-828C-DFAB7E69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停止与保存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2D9DA-2FAB-497E-9DAC-913ABA30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0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结束后点击“停止”，再点击“保存训练记录”。核对成功提示，进入历史复盘按该运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动员和日期查询，选中本次保存的记录。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A9F13-F0A8-4643-BF1D-1E5AECAA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回看与补充记录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6F9BF-8C49-4440-807E-1AAF5DCF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143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播放录像，按需进入复盘校准新增手动片段或修正已有片段。保存人工复核，填写教练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批注，再按需要导出报告。</a:t>
            </a:r>
          </a:p>
        </p:txBody>
      </p:sp>
    </p:spTree>
    <p:extLst>
      <p:ext uri="{BB962C8B-B14F-4D97-AF65-F5344CB8AC3E}">
        <p14:creationId xmlns:p14="http://schemas.microsoft.com/office/powerpoint/2010/main" val="10519241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7972-4A12-41A4-9FD1-B704E287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算法集成状态与界面对应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817F5-3344-4BC8-BE66-FDC73FFB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业务界面、算法接入和现场效果分别说明。当前资料支持确认基础接入及结果承接结构，尚不足以给出整体完成百分比。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710F2-5BD3-49C0-9E88-8977AE0D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状态依据提供的截图、工作计划和当前实现核对；不将测试数据、配置上限或空界面记为验收成果。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45B68-390E-4727-8FAE-A922363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048125"/>
                <a:gridCol w="6715125"/>
              </a:tblGrid>
              <a:tr h="869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对应界面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现有基础与待完成内容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人体检测、身份识别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系统状态；实时训练；人工身份绑定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模型接入与状态展示已有。冰场漏检、遮挡和误绑定需实测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二维轨迹、速度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场地与轨迹；实时训练；历史轨迹／速度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标定、计算、存储及导出已有路径。坐标精度和跨机位连续性待验证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多人结果归属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训练设置中的参与2—4；训练结果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最多4人参与结构和关联字段已有。4人交叉、跨镜和归属稳定性待验证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12路完整帧率分析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完整分析；任务中心；历史复盘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输入配置、任务服务和分析端实现已有。真实批次全流程与性能待验证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姿态、关节指标、评分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复盘校准等结果承接界面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当前新训练不生成3D骨架、自动动作计数或技术评分，专项输出仍待补齐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1294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B40F9-6AF9-45E9-805D-D8576912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基础算法：输入、结果与验证重点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33E03-01CB-49E7-9046-B971B954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检测与身份识别已接入，轨迹和速度依赖有效视频、身份关联及现场标定。每一层都需要检查实际输出。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B882D-92AB-4F62-8DC7-D5C14E8A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界面位置：状态检查见04页，标定见08—09页，身份与训练见17—19页，历史结果见20—21页。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E9EF1-1E9B-41AA-9986-95D76DD9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059AC-82F0-40CA-8BDB-632C235E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检测与身份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7560C-21BE-444E-BEF9-EC642FD8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模型配置采用YOLO26x人体检测及TransReID身份特征。输入视频后产生目标和身份信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息，界面可以显示就绪状态及识别状态，人工绑定用于辅助校正。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35518-9152-4932-A745-F8A2877D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轨迹与速度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CC321-DF8B-4E13-9276-3ADB08C5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通过四点标定将画面位置映射到米制场地坐标，再使用连续位置和时间计算速度。结果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保留机位、时间与人员关联，供历史查看和导出。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B31E9-B051-44DA-B831-1E009353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现场验证方法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9607D-D71F-4212-BF9B-2C0D9D48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0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用真实冰场视频逐段对照人工标注，记录漏检、误识别、遮挡后恢复和跨镜连续性。用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已知位置与时间基准对照轨迹、速度及异常跳变。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A236F-5FDC-453B-9E7D-C9562228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可确认的进度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5618D-B740-4BE5-BA14-2D20C5F3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143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基础模块和数据处理路径已有实现。模型“可用”只能说明初始化状态，轨迹精度、身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份准确率和持续运行性能仍需形成实测记录。</a:t>
            </a:r>
          </a:p>
        </p:txBody>
      </p:sp>
    </p:spTree>
    <p:extLst>
      <p:ext uri="{BB962C8B-B14F-4D97-AF65-F5344CB8AC3E}">
        <p14:creationId xmlns:p14="http://schemas.microsoft.com/office/powerpoint/2010/main" val="11031130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33FD7-040B-41A4-8074-6D8F95D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专项算法与多路效果的剩余工作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DBB53-BAE8-4201-B866-B0161731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后续工作需要补齐自动输出，并把结果稳定关联到人员、时间和录像，才能支持可靠的训练评估。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ECF4E-3B5D-4E25-98B7-9F95F978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当前结论：基础业务与检测身份接入已有，现场效果、多路完整运行和专项自动指标仍需完成验证或集成。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B3827-7F65-4E9A-9299-45322DB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B72E5-AA52-4BAD-9D99-A26DC966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多人身份与结果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B79BA-D193-4DAA-886F-8F4A5056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使用4人同场、交叉和遮挡样本核对身份归属。记录误绑定、身份恢复和跨机位切换结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果，验证参与人选择与实际分析输出的一致性。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AC9CF-A063-44A7-BFC4-6BE347E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12路实际运行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0D01D-B57C-4C4D-A565-86950B21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准备真实12路同步录像，完成创建、处理、失败恢复、结果激活与历史复盘。记录处理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帧数、耗时、资源占用和输出完整性。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91F9C-DFC4-430D-AA42-461D8877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姿态与关节指标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A0DB0-A314-45D5-87D3-5795C615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01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补齐3D骨架及关节角度、角速度等专项输出。统一关键点、单位和有效性规则，将指标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对应到同一人员、机位和时间戳。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96DE6-60E5-4C0B-BBB6-8F050D15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动作识别与评分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990BB-12E6-47A8-9E2C-2E4E4F07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143625"/>
            <a:ext cx="1095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接入动作片段、自动计数和技术评分，使用教练标注样本评测。已有人工复核和历史分</a:t>
            </a:r>
          </a:p>
          <a:p xmlns:a="http://schemas.openxmlformats.org/drawingml/2006/main">
            <a:pPr>
              <a:def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数字段仅用于承接结果，不能替代算法验证。</a:t>
            </a:r>
          </a:p>
        </p:txBody>
      </p:sp>
    </p:spTree>
    <p:extLst>
      <p:ext uri="{BB962C8B-B14F-4D97-AF65-F5344CB8AC3E}">
        <p14:creationId xmlns:p14="http://schemas.microsoft.com/office/powerpoint/2010/main" val="3569917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5F55F-AF66-455C-8E0D-1627E6F8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后续集成顺序与验收材料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AEFB9-99CA-47AB-9600-D8C31317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按工作计划的采集接入、数据回放、多人承接、工程化和交付要求推进。具体日期需结合现场设备与算法交付安排。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AD97A-BB15-4D7B-9B00-B4A830C1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验收以可重现的操作和结果为依据。缺少现场测量和统一验收记录时，不填写未经证实的完成率或精度。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EFA95-256D-45B0-9630-9D9E6E89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14097000" cy="521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5905500"/>
                <a:gridCol w="4857750"/>
              </a:tblGrid>
              <a:tr h="869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需要完成的工作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形成的可核对结果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现场接入与标定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确认相机、存储、录像来源，完成机位坐标和四点标定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有效视频、连接记录、标定点与位置误差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训练保存与复盘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按本PPT操作完成训练、保存、查询、录像回看与人工复核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可检索的训练记录、有效录像及复核保存结果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基础算法与多人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验证检测身份、轨迹速度和4人同场结果归属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人工对照样本、识别错误和轨迹速度误差记录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12路完整分析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运行真实批次，验证取消、重试、激活与结果回写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批次输入、运行记录、输出训练和完整复盘结果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专项输出与交付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补齐姿态、关节指标和评分，完成用例与操作资料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指标定义、教练对照评测、逐项用例与培训资料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688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2026-09-16T01:27:33.1700000Z</dcterms:created>
  <dcterms:modified xsi:type="dcterms:W3CDTF">2026-09-16T01:27:33.1700000Z</dcterms:modified>
</coreProperties>
</file>