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c3ecc55204d00" /><Relationship Type="http://schemas.openxmlformats.org/officeDocument/2006/relationships/extended-properties" Target="/docProps/app.xml" Id="R0d96973717e54a55" /><Relationship Type="http://schemas.openxmlformats.org/officeDocument/2006/relationships/officeDocument" Target="/ppt/presentation.xml" Id="R1d9d1033962c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24d825f0b4ccd"/>
  </p:sldMasterIdLst>
  <p:notesMasterIdLst>
    <p:notesMasterId xmlns:r="http://schemas.openxmlformats.org/officeDocument/2006/relationships" r:id="R186e3d6f87fe4a7a"/>
  </p:notesMasterIdLst>
  <p:sldIdLst>
    <p:sldId xmlns:r="http://schemas.openxmlformats.org/officeDocument/2006/relationships" id="256" r:id="Rb747b8ef06cc4817"/>
    <p:sldId xmlns:r="http://schemas.openxmlformats.org/officeDocument/2006/relationships" id="257" r:id="Rdb2cda887f6f4d9e"/>
    <p:sldId xmlns:r="http://schemas.openxmlformats.org/officeDocument/2006/relationships" id="258" r:id="R1600bee7ff39454c"/>
    <p:sldId xmlns:r="http://schemas.openxmlformats.org/officeDocument/2006/relationships" id="259" r:id="Rc485a904e4334cfb"/>
    <p:sldId xmlns:r="http://schemas.openxmlformats.org/officeDocument/2006/relationships" id="260" r:id="R4b5f78475c264aec"/>
    <p:sldId xmlns:r="http://schemas.openxmlformats.org/officeDocument/2006/relationships" id="261" r:id="R2575505393404ed6"/>
    <p:sldId xmlns:r="http://schemas.openxmlformats.org/officeDocument/2006/relationships" id="262" r:id="R6167be737e7e4b78"/>
    <p:sldId xmlns:r="http://schemas.openxmlformats.org/officeDocument/2006/relationships" id="263" r:id="Rb19e5bc23b994033"/>
    <p:sldId xmlns:r="http://schemas.openxmlformats.org/officeDocument/2006/relationships" id="264" r:id="Rf9e3e78979db4f69"/>
    <p:sldId xmlns:r="http://schemas.openxmlformats.org/officeDocument/2006/relationships" id="265" r:id="R739202cefef74211"/>
    <p:sldId xmlns:r="http://schemas.openxmlformats.org/officeDocument/2006/relationships" id="266" r:id="Rfc42a24e28dd483e"/>
    <p:sldId xmlns:r="http://schemas.openxmlformats.org/officeDocument/2006/relationships" id="267" r:id="R0aecdb32ef8f41b4"/>
    <p:sldId xmlns:r="http://schemas.openxmlformats.org/officeDocument/2006/relationships" id="268" r:id="R3196b592091245e8"/>
    <p:sldId xmlns:r="http://schemas.openxmlformats.org/officeDocument/2006/relationships" id="269" r:id="R76be77bbefec4ad0"/>
    <p:sldId xmlns:r="http://schemas.openxmlformats.org/officeDocument/2006/relationships" id="270" r:id="Raa89bafaec6142a9"/>
    <p:sldId xmlns:r="http://schemas.openxmlformats.org/officeDocument/2006/relationships" id="271" r:id="R2b51a5f81aa44bdc"/>
    <p:sldId xmlns:r="http://schemas.openxmlformats.org/officeDocument/2006/relationships" id="272" r:id="R008c8cdb330541a9"/>
    <p:sldId xmlns:r="http://schemas.openxmlformats.org/officeDocument/2006/relationships" id="273" r:id="R44a7e6bd4c1048aa"/>
    <p:sldId xmlns:r="http://schemas.openxmlformats.org/officeDocument/2006/relationships" id="274" r:id="R3b90ed52307d422e"/>
    <p:sldId xmlns:r="http://schemas.openxmlformats.org/officeDocument/2006/relationships" id="275" r:id="Rd9ab7f26ea4b4179"/>
    <p:sldId xmlns:r="http://schemas.openxmlformats.org/officeDocument/2006/relationships" id="276" r:id="Rc374f39857684b94"/>
    <p:sldId xmlns:r="http://schemas.openxmlformats.org/officeDocument/2006/relationships" id="277" r:id="Rea0aa54484164580"/>
    <p:sldId xmlns:r="http://schemas.openxmlformats.org/officeDocument/2006/relationships" id="278" r:id="R6e0da3775aa44fed"/>
    <p:sldId xmlns:r="http://schemas.openxmlformats.org/officeDocument/2006/relationships" id="279" r:id="R75dc1a762ab54176"/>
    <p:sldId xmlns:r="http://schemas.openxmlformats.org/officeDocument/2006/relationships" id="280" r:id="Rcbbf1b8049dd40ea"/>
    <p:sldId xmlns:r="http://schemas.openxmlformats.org/officeDocument/2006/relationships" id="281" r:id="Ra0deabb398bb4b80"/>
    <p:sldId xmlns:r="http://schemas.openxmlformats.org/officeDocument/2006/relationships" id="282" r:id="Rf8169ae6e2584481"/>
    <p:sldId xmlns:r="http://schemas.openxmlformats.org/officeDocument/2006/relationships" id="283" r:id="R4a40b74aae1849b3"/>
    <p:sldId xmlns:r="http://schemas.openxmlformats.org/officeDocument/2006/relationships" id="284" r:id="Rdbf7eddc70884a0e"/>
    <p:sldId xmlns:r="http://schemas.openxmlformats.org/officeDocument/2006/relationships" id="285" r:id="R8baa3800131944dd"/>
    <p:sldId xmlns:r="http://schemas.openxmlformats.org/officeDocument/2006/relationships" id="286" r:id="R20c237aefdeb4c0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230e9e8a3446a" /><Relationship Type="http://schemas.openxmlformats.org/officeDocument/2006/relationships/slideMaster" Target="/ppt/slideMasters/slideMaster1.xml" Id="Rb5124d825f0b4ccd" /><Relationship Type="http://schemas.openxmlformats.org/officeDocument/2006/relationships/notesMaster" Target="/ppt/notesMasters/notesMaster1.xml" Id="R186e3d6f87fe4a7a" /><Relationship Type="http://schemas.openxmlformats.org/officeDocument/2006/relationships/presProps" Target="/ppt/presProps.xml" Id="R3fdb1efeb0974776" /><Relationship Type="http://schemas.openxmlformats.org/officeDocument/2006/relationships/tableStyles" Target="/ppt/tableStyles.xml" Id="R39e08add39af4884" /><Relationship Type="http://schemas.openxmlformats.org/officeDocument/2006/relationships/slide" Target="/ppt/slides/slide1.xml" Id="Rb747b8ef06cc4817" /><Relationship Type="http://schemas.openxmlformats.org/officeDocument/2006/relationships/slide" Target="/ppt/slides/slide2.xml" Id="Rdb2cda887f6f4d9e" /><Relationship Type="http://schemas.openxmlformats.org/officeDocument/2006/relationships/slide" Target="/ppt/slides/slide3.xml" Id="R1600bee7ff39454c" /><Relationship Type="http://schemas.openxmlformats.org/officeDocument/2006/relationships/slide" Target="/ppt/slides/slide4.xml" Id="Rc485a904e4334cfb" /><Relationship Type="http://schemas.openxmlformats.org/officeDocument/2006/relationships/slide" Target="/ppt/slides/slide5.xml" Id="R4b5f78475c264aec" /><Relationship Type="http://schemas.openxmlformats.org/officeDocument/2006/relationships/slide" Target="/ppt/slides/slide6.xml" Id="R2575505393404ed6" /><Relationship Type="http://schemas.openxmlformats.org/officeDocument/2006/relationships/slide" Target="/ppt/slides/slide7.xml" Id="R6167be737e7e4b78" /><Relationship Type="http://schemas.openxmlformats.org/officeDocument/2006/relationships/slide" Target="/ppt/slides/slide8.xml" Id="Rb19e5bc23b994033" /><Relationship Type="http://schemas.openxmlformats.org/officeDocument/2006/relationships/slide" Target="/ppt/slides/slide9.xml" Id="Rf9e3e78979db4f69" /><Relationship Type="http://schemas.openxmlformats.org/officeDocument/2006/relationships/slide" Target="/ppt/slides/slide10.xml" Id="R739202cefef74211" /><Relationship Type="http://schemas.openxmlformats.org/officeDocument/2006/relationships/slide" Target="/ppt/slides/slide11.xml" Id="Rfc42a24e28dd483e" /><Relationship Type="http://schemas.openxmlformats.org/officeDocument/2006/relationships/slide" Target="/ppt/slides/slide12.xml" Id="R0aecdb32ef8f41b4" /><Relationship Type="http://schemas.openxmlformats.org/officeDocument/2006/relationships/slide" Target="/ppt/slides/slide13.xml" Id="R3196b592091245e8" /><Relationship Type="http://schemas.openxmlformats.org/officeDocument/2006/relationships/slide" Target="/ppt/slides/slide14.xml" Id="R76be77bbefec4ad0" /><Relationship Type="http://schemas.openxmlformats.org/officeDocument/2006/relationships/slide" Target="/ppt/slides/slide15.xml" Id="Raa89bafaec6142a9" /><Relationship Type="http://schemas.openxmlformats.org/officeDocument/2006/relationships/slide" Target="/ppt/slides/slide16.xml" Id="R2b51a5f81aa44bdc" /><Relationship Type="http://schemas.openxmlformats.org/officeDocument/2006/relationships/slide" Target="/ppt/slides/slide17.xml" Id="R008c8cdb330541a9" /><Relationship Type="http://schemas.openxmlformats.org/officeDocument/2006/relationships/slide" Target="/ppt/slides/slide18.xml" Id="R44a7e6bd4c1048aa" /><Relationship Type="http://schemas.openxmlformats.org/officeDocument/2006/relationships/slide" Target="/ppt/slides/slide19.xml" Id="R3b90ed52307d422e" /><Relationship Type="http://schemas.openxmlformats.org/officeDocument/2006/relationships/slide" Target="/ppt/slides/slide20.xml" Id="Rd9ab7f26ea4b4179" /><Relationship Type="http://schemas.openxmlformats.org/officeDocument/2006/relationships/slide" Target="/ppt/slides/slide21.xml" Id="Rc374f39857684b94" /><Relationship Type="http://schemas.openxmlformats.org/officeDocument/2006/relationships/slide" Target="/ppt/slides/slide22.xml" Id="Rea0aa54484164580" /><Relationship Type="http://schemas.openxmlformats.org/officeDocument/2006/relationships/slide" Target="/ppt/slides/slide23.xml" Id="R6e0da3775aa44fed" /><Relationship Type="http://schemas.openxmlformats.org/officeDocument/2006/relationships/slide" Target="/ppt/slides/slide24.xml" Id="R75dc1a762ab54176" /><Relationship Type="http://schemas.openxmlformats.org/officeDocument/2006/relationships/slide" Target="/ppt/slides/slide25.xml" Id="Rcbbf1b8049dd40ea" /><Relationship Type="http://schemas.openxmlformats.org/officeDocument/2006/relationships/slide" Target="/ppt/slides/slide26.xml" Id="Ra0deabb398bb4b80" /><Relationship Type="http://schemas.openxmlformats.org/officeDocument/2006/relationships/slide" Target="/ppt/slides/slide27.xml" Id="Rf8169ae6e2584481" /><Relationship Type="http://schemas.openxmlformats.org/officeDocument/2006/relationships/slide" Target="/ppt/slides/slide28.xml" Id="R4a40b74aae1849b3" /><Relationship Type="http://schemas.openxmlformats.org/officeDocument/2006/relationships/slide" Target="/ppt/slides/slide29.xml" Id="Rdbf7eddc70884a0e" /><Relationship Type="http://schemas.openxmlformats.org/officeDocument/2006/relationships/slide" Target="/ppt/slides/slide30.xml" Id="R8baa3800131944dd" /><Relationship Type="http://schemas.openxmlformats.org/officeDocument/2006/relationships/slide" Target="/ppt/slides/slide31.xml" Id="R20c237aefdeb4c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e6bd09d1c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4c443d96544a5c" /><Relationship Type="http://schemas.openxmlformats.org/officeDocument/2006/relationships/notesMaster" Target="/ppt/notesMasters/notesMaster1.xml" Id="Rd775468f8ef9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93711848c147f0" /><Relationship Type="http://schemas.openxmlformats.org/officeDocument/2006/relationships/notesMaster" Target="/ppt/notesMasters/notesMaster1.xml" Id="R4e3c1338920b41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c3961e9644ca5" /><Relationship Type="http://schemas.openxmlformats.org/officeDocument/2006/relationships/notesMaster" Target="/ppt/notesMasters/notesMaster1.xml" Id="Rbe38ee55c46a4d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61f2903df4fbb" /><Relationship Type="http://schemas.openxmlformats.org/officeDocument/2006/relationships/notesMaster" Target="/ppt/notesMasters/notesMaster1.xml" Id="Rf46031a4ae3740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bc81c6cd834ea8" /><Relationship Type="http://schemas.openxmlformats.org/officeDocument/2006/relationships/notesMaster" Target="/ppt/notesMasters/notesMaster1.xml" Id="Re82e7345b7fe40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595ad596904e68" /><Relationship Type="http://schemas.openxmlformats.org/officeDocument/2006/relationships/notesMaster" Target="/ppt/notesMasters/notesMaster1.xml" Id="Rdfb14d1d65284e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c2981b5c7c41f5" /><Relationship Type="http://schemas.openxmlformats.org/officeDocument/2006/relationships/notesMaster" Target="/ppt/notesMasters/notesMaster1.xml" Id="R70bdebfbec1342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dea8cf5f6247ee" /><Relationship Type="http://schemas.openxmlformats.org/officeDocument/2006/relationships/notesMaster" Target="/ppt/notesMasters/notesMaster1.xml" Id="R322ccbb6fd3147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0460dcb20141e2" /><Relationship Type="http://schemas.openxmlformats.org/officeDocument/2006/relationships/notesMaster" Target="/ppt/notesMasters/notesMaster1.xml" Id="R548b085354da49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b4722f3414791" /><Relationship Type="http://schemas.openxmlformats.org/officeDocument/2006/relationships/notesMaster" Target="/ppt/notesMasters/notesMaster1.xml" Id="Rca314e5ec1ae48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e56f524be74c2d" /><Relationship Type="http://schemas.openxmlformats.org/officeDocument/2006/relationships/notesMaster" Target="/ppt/notesMasters/notesMaster1.xml" Id="R2fd7d84b4aa445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1f18f41dc94ee0" /><Relationship Type="http://schemas.openxmlformats.org/officeDocument/2006/relationships/notesMaster" Target="/ppt/notesMasters/notesMaster1.xml" Id="R3724a9d315b446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eb8723a6d54ac5" /><Relationship Type="http://schemas.openxmlformats.org/officeDocument/2006/relationships/notesMaster" Target="/ppt/notesMasters/notesMaster1.xml" Id="R29d216dcdee745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37543478d24793" /><Relationship Type="http://schemas.openxmlformats.org/officeDocument/2006/relationships/notesMaster" Target="/ppt/notesMasters/notesMaster1.xml" Id="Rd7bb20e77df743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3a31cfef71469c" /><Relationship Type="http://schemas.openxmlformats.org/officeDocument/2006/relationships/notesMaster" Target="/ppt/notesMasters/notesMaster1.xml" Id="R75f4a8cc62c747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037f841c944dec" /><Relationship Type="http://schemas.openxmlformats.org/officeDocument/2006/relationships/notesMaster" Target="/ppt/notesMasters/notesMaster1.xml" Id="R776c687b8716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56f598d51c4f06" /><Relationship Type="http://schemas.openxmlformats.org/officeDocument/2006/relationships/notesMaster" Target="/ppt/notesMasters/notesMaster1.xml" Id="R69c8c49f47ad4f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1ede98651e4b32" /><Relationship Type="http://schemas.openxmlformats.org/officeDocument/2006/relationships/notesMaster" Target="/ppt/notesMasters/notesMaster1.xml" Id="R427f6fc4d53149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ce2b89a473490b" /><Relationship Type="http://schemas.openxmlformats.org/officeDocument/2006/relationships/notesMaster" Target="/ppt/notesMasters/notesMaster1.xml" Id="R4139d737358148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7dd1ea781b46d9" /><Relationship Type="http://schemas.openxmlformats.org/officeDocument/2006/relationships/notesMaster" Target="/ppt/notesMasters/notesMaster1.xml" Id="Re0d26b59089542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5496a3cd5941a9" /><Relationship Type="http://schemas.openxmlformats.org/officeDocument/2006/relationships/notesMaster" Target="/ppt/notesMasters/notesMaster1.xml" Id="R8d4e80b4f49f42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331be8d7e244ae" /><Relationship Type="http://schemas.openxmlformats.org/officeDocument/2006/relationships/notesMaster" Target="/ppt/notesMasters/notesMaster1.xml" Id="R27bba5af988d42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3d857c31b94a6b" /><Relationship Type="http://schemas.openxmlformats.org/officeDocument/2006/relationships/notesMaster" Target="/ppt/notesMasters/notesMaster1.xml" Id="Rfd15a0262f5f4f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7043c40d7543e5" /><Relationship Type="http://schemas.openxmlformats.org/officeDocument/2006/relationships/notesMaster" Target="/ppt/notesMasters/notesMaster1.xml" Id="Rc69a6c173a4946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dcb1d8e447424c" /><Relationship Type="http://schemas.openxmlformats.org/officeDocument/2006/relationships/notesMaster" Target="/ppt/notesMasters/notesMaster1.xml" Id="R3d44f4be10be4e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7b9e36ea6640ba" /><Relationship Type="http://schemas.openxmlformats.org/officeDocument/2006/relationships/notesMaster" Target="/ppt/notesMasters/notesMaster1.xml" Id="Ra5eeb3acab3442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12493fa5c384db9" /><Relationship Type="http://schemas.openxmlformats.org/officeDocument/2006/relationships/notesMaster" Target="/ppt/notesMasters/notesMaster1.xml" Id="R9aa18a2b77b348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8266ee6c924b5c" /><Relationship Type="http://schemas.openxmlformats.org/officeDocument/2006/relationships/notesMaster" Target="/ppt/notesMasters/notesMaster1.xml" Id="R5585d8cc79954a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0e65bd6a7b403d" /><Relationship Type="http://schemas.openxmlformats.org/officeDocument/2006/relationships/notesMaster" Target="/ppt/notesMasters/notesMaster1.xml" Id="R15437a245f8940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67f2704eab4725" /><Relationship Type="http://schemas.openxmlformats.org/officeDocument/2006/relationships/notesMaster" Target="/ppt/notesMasters/notesMaster1.xml" Id="Rca547e5cd567493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10ad1f7129482a" /><Relationship Type="http://schemas.openxmlformats.org/officeDocument/2006/relationships/notesMaster" Target="/ppt/notesMasters/notesMaster1.xml" Id="R2de2560e73644e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智慧冰场系统集成工作计划表.xlsb》、screen-shots目录13张截图及当前项目README与相关源码。基于上一版内容扩展，依用户要求采用白色简约风格。计划表为范围与历史缺口清单，当前状态由截图及代码补充核对，不能直接推算完成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计划表功能实现F-01～F-38、软件界面U-01～U-31。结合README及13张截图归纳。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README训练、历史复盘、TrainingReviewDialog说明。计划表F-08～F-27，U-08～U-23。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计划表F-04～F-07，U-04～U-07。截图主界面、系统设置-1和系统设置-3，README系统设置与实时训练布局。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截图训练设置、主界面；README训练上下文和比赛管理说明；server/app/schema.py参与人结构。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README人员管理说明、截图人员管理，src/domain/athleteanalysisresult.h，models/athlete/athlete_models.json。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计划表F-16～F-18、U-14～U-16。README比赛管理说明，截图比赛管理、训练设置。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计划表F-19～F-20、U-17～U-18、U-29。README历史复盘说明和截图历史复盘。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计划表F-12、U-11、U-23。README TrainingReviewDialog说明，截图复盘校准。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计划表F-21～F-27、U-19～U-23。src/ui/mainwindow.cpp四点映射、速度计算与导出；server/app/schema.py track_points/speed_metrics；截图系统设置-2。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计划表F-13～F-15、F-28～F-32，U-12～U-13、U-24～U-25。README任务中心与完整分析说明，analysis_worker/worker.py，截图任务中心、完整分析。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计划表F-01～F-03、F-09～F-11、F-31～F-38，U-01～U-03、U-10、U-26～U-31。README系统状态与截图系统状态、系统设置-4。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原工作计划表第11列阶段安排及第12～13列验收口径与交付物。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来源：screen-shots/主界面.png。主画面与机位预览用于现场观察，右侧集中展示当前对象和训练控制。。截图未开始训练，机位未形成在线分析画面。。结合README对应模块说明，原图数据未修改。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来源：screen-shots/训练设置.png。以侧边设置区配置本次训练，将人员、动作项目和比赛场次关联起来。。人员入口已有，现场4人识别效果另行验证。。结合README对应模块说明，原图数据未修改。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来源：screen-shots/人员管理.png。左侧查找档案，右侧维护详情，保存与归档操作直接对应当前选中人员。。当前截图为运动员页，列表包含测试人员。。结合README对应模块说明，原图数据未修改。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来源：screen-shots/比赛管理.png。通过比赛列表和详情维护赛事资料，并在同一业务关系下管理场次和参赛人员。。画面内容为测试比赛资料。。结合README对应模块说明，原图数据未修改。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来源：screen-shots/历史复盘.png。筛选区、分页列表和训练详情相互配合，按一次训练集中组织后续操作。。历史分数包含测试数据，不代表当前自动评分效果。。结合README对应模块说明，原图数据未修改。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来源：screen-shots/复盘校准.png。训练回放、标准参考、动作片段和人工复核信息放在同一窗口中。。截图暂无实际录像画面，播放需有效媒体来源。。结合README对应模块说明，原图数据未修改。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来源：screen-shots/任务中心.png。以任务列表和详情展示处理进度，让用户能查看输入内容、状态和异常原因。。所选任务显示已完成，但输出训练字段为空。。结合README对应模块说明，原图数据未修改。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来源：screen-shots/完整分析.png。通过NAS文件与机位配置建立分析批次，并为多源时间对齐保留校正参数。。当前截图尚未配置输入，也未创建分析批次。。结合README对应模块说明，原图数据未修改。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来源：screen-shots/系统状态.png。把系统运行所需的关键状态集中展示，便于训练前检查和现场故障定位。。截图中模型可用，摄像头在线状态尚未检测。。结合README对应模块说明，原图数据未修改。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来源：screen-shots/系统设置-1.png。公共连接规则与各机位地址分开维护，减少12路摄像头重复配置。。30/60 FPS为配置值，不是当前处理性能实测。。结合README对应模块说明，原图数据未修改。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来源：screen-shots/系统设置-2.png。按机位维护场地覆盖及四点映射，为二维轨迹的数据统一提供基础。。默认区间与跑道示意不能替代实地测量。。结合README对应模块说明，原图数据未修改。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来源：screen-shots/系统设置-3.png。将画面预览和分析处理分开配置，按设备能力控制实时分析负载。。5 FPS与12路是目标设置，实际结果需测量。。结合README对应模块说明，原图数据未修改。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来源：screen-shots/系统设置-4.png。通过根目录、容量限制和保留天数，管理已登记视频资产的保存与清理候选。。截图文件登记量为0，持续录像和回放需另行验收。。结合README对应模块说明，原图数据未修改。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models/athlete/athlete_models.json；src/domain/athleteanalysisresult.h；server/app/schema.py；src/ui/mainwindow.cpp；analysis_worker/worker.py；README；系统状态和完整分析截图。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models/athlete/athlete_models.json、src/domain/athleteanalysisresult.h、server/app/schema.py、src/ui/mainwindow.cpp。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server/app/schema.py training_session_participants；README完整分析；analysis_worker/worker.py；截图训练设置、任务中心、完整分析。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README首段当前能力边界；计划表F-23、F-26～F-27、U-21～U-23；server/app/schema.py joint_metrics。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基于计划表F-01～F-38、U-01～U-31及当前实现状态提出的建议顺序，非已承诺日期。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fc2cd446842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5858117b7548d8" /><Relationship Type="http://schemas.openxmlformats.org/officeDocument/2006/relationships/slideLayout" Target="/ppt/slideLayouts/slideLayout1.xml" Id="R68d9ed3d44e0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9ed3d44e0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940d2efe4fc0" /><Relationship Type="http://schemas.openxmlformats.org/officeDocument/2006/relationships/notesSlide" Target="/ppt/notesSlides/notesSlide1.xml" Id="R292a5417b2a441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292fe22f048a3" /><Relationship Type="http://schemas.openxmlformats.org/officeDocument/2006/relationships/notesSlide" Target="/ppt/notesSlides/notesSlide2.xml" Id="R626bb7c5f11347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12fb6f7b94ad0" /><Relationship Type="http://schemas.openxmlformats.org/officeDocument/2006/relationships/notesSlide" Target="/ppt/notesSlides/notesSlide3.xml" Id="R05233fbe457a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b489976714e0d" /><Relationship Type="http://schemas.openxmlformats.org/officeDocument/2006/relationships/notesSlide" Target="/ppt/notesSlides/notesSlide4.xml" Id="Rd7bb5517f145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f29fa2718445c" /><Relationship Type="http://schemas.openxmlformats.org/officeDocument/2006/relationships/notesSlide" Target="/ppt/notesSlides/notesSlide5.xml" Id="Rc6b6d5f61eab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4a4d4f97a4501" /><Relationship Type="http://schemas.openxmlformats.org/officeDocument/2006/relationships/notesSlide" Target="/ppt/notesSlides/notesSlide6.xml" Id="Rc7ca32aa26ae4c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7a5719ba44f4b" /><Relationship Type="http://schemas.openxmlformats.org/officeDocument/2006/relationships/notesSlide" Target="/ppt/notesSlides/notesSlide7.xml" Id="R4df4da475c0f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9b77b096a4110" /><Relationship Type="http://schemas.openxmlformats.org/officeDocument/2006/relationships/notesSlide" Target="/ppt/notesSlides/notesSlide8.xml" Id="Rbddcfcb5362647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b4c449c2c4a97" /><Relationship Type="http://schemas.openxmlformats.org/officeDocument/2006/relationships/notesSlide" Target="/ppt/notesSlides/notesSlide9.xml" Id="R6fb726df28b542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833f27b44764" /><Relationship Type="http://schemas.openxmlformats.org/officeDocument/2006/relationships/notesSlide" Target="/ppt/notesSlides/notesSlide10.xml" Id="Rea1ccd07584240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8cd76ba634c29" /><Relationship Type="http://schemas.openxmlformats.org/officeDocument/2006/relationships/notesSlide" Target="/ppt/notesSlides/notesSlide11.xml" Id="R4e977ab299db44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7372f392341f8" /><Relationship Type="http://schemas.openxmlformats.org/officeDocument/2006/relationships/notesSlide" Target="/ppt/notesSlides/notesSlide12.xml" Id="Ra908d7f92b874e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4c889651442d7" /><Relationship Type="http://schemas.openxmlformats.org/officeDocument/2006/relationships/notesSlide" Target="/ppt/notesSlides/notesSlide13.xml" Id="R8dc13b66affe4d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0db06cf624df1" /><Relationship Type="http://schemas.openxmlformats.org/officeDocument/2006/relationships/image" Target="/ppt/media/image.png" Id="R85295a5b46d6478a" /><Relationship Type="http://schemas.openxmlformats.org/officeDocument/2006/relationships/notesSlide" Target="/ppt/notesSlides/notesSlide14.xml" Id="Rc086feb632cb4e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56a2275194a4c" /><Relationship Type="http://schemas.openxmlformats.org/officeDocument/2006/relationships/image" Target="/ppt/media/image2.png" Id="R4e2ae51eb4e94159" /><Relationship Type="http://schemas.openxmlformats.org/officeDocument/2006/relationships/notesSlide" Target="/ppt/notesSlides/notesSlide15.xml" Id="Rf864c36573b344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3b3a1d6394492" /><Relationship Type="http://schemas.openxmlformats.org/officeDocument/2006/relationships/image" Target="/ppt/media/image3.png" Id="R51826de90ff74b6e" /><Relationship Type="http://schemas.openxmlformats.org/officeDocument/2006/relationships/notesSlide" Target="/ppt/notesSlides/notesSlide16.xml" Id="Rfd13085b69e84d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25f0c15a04891" /><Relationship Type="http://schemas.openxmlformats.org/officeDocument/2006/relationships/image" Target="/ppt/media/image4.png" Id="R2e20fb19d60a47f6" /><Relationship Type="http://schemas.openxmlformats.org/officeDocument/2006/relationships/notesSlide" Target="/ppt/notesSlides/notesSlide17.xml" Id="R0bf9b66ef97943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ce42de6c4366" /><Relationship Type="http://schemas.openxmlformats.org/officeDocument/2006/relationships/image" Target="/ppt/media/image5.png" Id="R3f47a640b06e4e92" /><Relationship Type="http://schemas.openxmlformats.org/officeDocument/2006/relationships/notesSlide" Target="/ppt/notesSlides/notesSlide18.xml" Id="R9669054ee8d94b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5449851047ae" /><Relationship Type="http://schemas.openxmlformats.org/officeDocument/2006/relationships/image" Target="/ppt/media/image6.png" Id="R76c9bc7206754c1c" /><Relationship Type="http://schemas.openxmlformats.org/officeDocument/2006/relationships/notesSlide" Target="/ppt/notesSlides/notesSlide19.xml" Id="R31818803396a46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f7108211440fe" /><Relationship Type="http://schemas.openxmlformats.org/officeDocument/2006/relationships/image" Target="/ppt/media/image7.png" Id="R7d8df611b0674871" /><Relationship Type="http://schemas.openxmlformats.org/officeDocument/2006/relationships/notesSlide" Target="/ppt/notesSlides/notesSlide20.xml" Id="R993f0c307a8d40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21fefc8e5442d" /><Relationship Type="http://schemas.openxmlformats.org/officeDocument/2006/relationships/image" Target="/ppt/media/image8.png" Id="R4730f319102d4a6d" /><Relationship Type="http://schemas.openxmlformats.org/officeDocument/2006/relationships/notesSlide" Target="/ppt/notesSlides/notesSlide21.xml" Id="R3c0ea6c472bc43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235ff791b4cea" /><Relationship Type="http://schemas.openxmlformats.org/officeDocument/2006/relationships/image" Target="/ppt/media/image9.png" Id="R482d537b45b6445a" /><Relationship Type="http://schemas.openxmlformats.org/officeDocument/2006/relationships/notesSlide" Target="/ppt/notesSlides/notesSlide22.xml" Id="R9384f4bc609243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b6eb4b674f53" /><Relationship Type="http://schemas.openxmlformats.org/officeDocument/2006/relationships/image" Target="/ppt/media/image10.png" Id="Rfdb294d0a25a43fb" /><Relationship Type="http://schemas.openxmlformats.org/officeDocument/2006/relationships/notesSlide" Target="/ppt/notesSlides/notesSlide23.xml" Id="Rc0694387833d4c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58cb2f07d4f7f" /><Relationship Type="http://schemas.openxmlformats.org/officeDocument/2006/relationships/image" Target="/ppt/media/image11.png" Id="R78b74f3106b84365" /><Relationship Type="http://schemas.openxmlformats.org/officeDocument/2006/relationships/notesSlide" Target="/ppt/notesSlides/notesSlide24.xml" Id="R762fa7a3cf0f4a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00be9834145f9" /><Relationship Type="http://schemas.openxmlformats.org/officeDocument/2006/relationships/image" Target="/ppt/media/image12.png" Id="Rf9aa89b3805c4e09" /><Relationship Type="http://schemas.openxmlformats.org/officeDocument/2006/relationships/notesSlide" Target="/ppt/notesSlides/notesSlide25.xml" Id="Rafd675c22bc24fc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124efb70a413d" /><Relationship Type="http://schemas.openxmlformats.org/officeDocument/2006/relationships/image" Target="/ppt/media/image13.png" Id="Rd24a0f506a6640f1" /><Relationship Type="http://schemas.openxmlformats.org/officeDocument/2006/relationships/notesSlide" Target="/ppt/notesSlides/notesSlide26.xml" Id="Rf0b3767ff40f4e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f6a40e7024fdd" /><Relationship Type="http://schemas.openxmlformats.org/officeDocument/2006/relationships/notesSlide" Target="/ppt/notesSlides/notesSlide27.xml" Id="Rd42e5ad2ffb34a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e37a159b94b8c" /><Relationship Type="http://schemas.openxmlformats.org/officeDocument/2006/relationships/notesSlide" Target="/ppt/notesSlides/notesSlide28.xml" Id="R37f2708011e54ff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721e7d65641a7" /><Relationship Type="http://schemas.openxmlformats.org/officeDocument/2006/relationships/notesSlide" Target="/ppt/notesSlides/notesSlide29.xml" Id="R672deabfe04447a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3ea00e9bc4515" /><Relationship Type="http://schemas.openxmlformats.org/officeDocument/2006/relationships/notesSlide" Target="/ppt/notesSlides/notesSlide30.xml" Id="R49b7ebb3e2f44a6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a32ac4e44916" /><Relationship Type="http://schemas.openxmlformats.org/officeDocument/2006/relationships/notesSlide" Target="/ppt/notesSlides/notesSlide31.xml" Id="Reeb62fe0aacd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9724B-04D1-4FBC-BE51-A5AC28B9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314B2-A9CE-4CB4-BBFE-8D60EB72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4CDAF-A4BD-4620-9DAD-AFEF6FAF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iSkating 智慧冰场系统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EE6C0-7A47-49E9-85CF-8F863652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381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系统功能与界面介绍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AAF3C-1D99-4D8D-A524-7A76BFE5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381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算法集成进展与下一阶段工作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62FB7-957F-40F5-A2F5-962EB624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功能说明　　界面展示　　集成进度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5E427-8E22-4E89-840F-96B18F87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533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14193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213D2-B502-4FD1-9644-6D570F50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系统建设范围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D8325-24B6-462D-B96E-D43793F9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围绕训练采集、业务管理和赛后复盘，组织视频、人员及分析结果。计划表共列出38项功能工作和31项界面工作。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4E3CE-EFF2-427C-AE4D-EE08DE9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495550"/>
          <a:ext xmlns:a="http://schemas.openxmlformats.org/drawingml/2006/main" cx="140208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714750"/>
                <a:gridCol w="7972425"/>
              </a:tblGrid>
              <a:tr h="793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功能模块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使用场景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视频与训练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现场训练、多机位观察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12路配置、主画面与预览、训练上下文、分析参数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人员与比赛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档案维护、比赛结果归属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运动员和教练、比赛、场次、参赛关系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历史与复盘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检索训练记录、教练复核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组合查询、录像播放、片段校准、批注与报告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算法与任务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实时辅助分析、离线处理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身份关联、二维轨迹、速度、任务和完整分析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运行与交付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现场装调、故障定位、验收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服务与模型状态、相机检查、存储策略、交付材料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B85C8-C5A0-4CE7-BF5C-9301714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952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本页说明建设范围，各项能力的当前状态在后文单列。</a:t>
            </a:r>
          </a:p>
        </p:txBody>
      </p:sp>
    </p:spTree>
    <p:extLst>
      <p:ext uri="{BB962C8B-B14F-4D97-AF65-F5344CB8AC3E}">
        <p14:creationId xmlns:p14="http://schemas.microsoft.com/office/powerpoint/2010/main" val="1034739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4B6B9-A424-4238-A145-E22A63F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一次训练的业务流程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1BE9B-0CC7-437F-8995-B81724A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把训练前的准备、训练过程和训练后的复盘放在同一条业务流程中，让每次训练都能追溯到人员、录像和结果。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C80FA-E385-45FA-AADE-2DEB6C9D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495550"/>
          <a:ext xmlns:a="http://schemas.openxmlformats.org/drawingml/2006/main" cx="140208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96000"/>
                <a:gridCol w="5448300"/>
              </a:tblGrid>
              <a:tr h="793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主要操作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关联的信息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训练准备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配置机位、检查连接、维护人员档案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摄像头配置、运动员与教练、场地标定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训练设置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选择人员、比赛场次、动作标准和分析参数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本次训练的业务归属与分析条件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训练采集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查看主视频、观察识别状态，控制训练过程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视频来源、身份、时间戳、轨迹与速度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记录保存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保存训练，并从历史列表定位记录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训练记录、参与人员、分析结果和媒体关联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复盘反馈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回看片段、人工复核、填写批注和导出报告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复核结果、教练意见、可交付数据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D6422-AF8A-4F73-ABD3-1A0CB57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952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当前现场录像、多人效果和完整分析结果关联仍需端到端验证。</a:t>
            </a:r>
          </a:p>
        </p:txBody>
      </p:sp>
    </p:spTree>
    <p:extLst>
      <p:ext uri="{BB962C8B-B14F-4D97-AF65-F5344CB8AC3E}">
        <p14:creationId xmlns:p14="http://schemas.microsoft.com/office/powerpoint/2010/main" val="1977520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E0975-50E8-4D01-9C2C-53740F8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多机位视频接入与实时观察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364C5-10DC-4BC3-B8BB-26BD75E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系统以主视频配合多机位预览组织现场画面，同时提供可配置的分析负载，适应训练观察和算法处理的不同需要。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AAB57-76DE-4AD4-9265-214B17E0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A5A09-A005-492F-8705-5C0A5BF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接入配置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E0317-DDEC-4DDD-87D9-17F6287E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通过公共RTSP账号、端口和主辅码流路径配置连接规则，再按固定编号维护12路机位IP。配置模板和连通测试入口用于现场装调。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49064-B04F-47B6-9E32-CFB2666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画面组织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F7D8F-4AA7-48A2-BB5F-71CA235E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主视频承担重点观察，各路预览用于了解机位状态和切换观察角度。未配置、离线或正在连接的机位应有明确提示，便于定位问题。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0DB28-EA2E-4582-B953-9A0F91A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分析资源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34325-60B2-4C78-B888-9091855A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可选择分析流来源、目标帧率及最大分析路数。超载时降低非主机位分析频率，使设备负载与训练观察需求相匹配。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EEB46-B439-499D-B933-94250A12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12路与目标帧率属于配置能力，实际吞吐和长时间稳定性需要现场测量。</a:t>
            </a:r>
          </a:p>
        </p:txBody>
      </p:sp>
    </p:spTree>
    <p:extLst>
      <p:ext uri="{BB962C8B-B14F-4D97-AF65-F5344CB8AC3E}">
        <p14:creationId xmlns:p14="http://schemas.microsoft.com/office/powerpoint/2010/main" val="173311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EF37-31BB-47F7-893D-34DB7320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训练设置与结果归属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FC7D6-46EC-4813-8BCD-0B3FCBD9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训练设置不仅决定分析参数，也记录“谁在训练、由谁指导、属于哪次比赛或场次”，为后续检索和复盘提供上下文。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39BE8-0149-4F86-A046-812CE202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69E95-0575-45A0-B1F4-92B6E067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参与人员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86622-3A7C-451B-A69B-D2C07738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选择当前运动员和教练，并提供参与2～4的人员选择入口。人员信息来源于统一档案，减少临时输入造成的名称不一致。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1EB7-A85B-4886-A833-E014FF5D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训练背景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56B27-15B8-4E7B-9C50-5BD9C9C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配置比赛、场次、场地、动作标准、训练阶段和本次目标。保存后的记录可按这些信息检索，比赛训练结果也能按业务关系归属。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923E1-A3F6-4D6C-A8A6-45F43EA6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过程控制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07793-DCB4-44C3-AF3C-39C1620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通过开始、暂停、停止与保存管理训练过程。主界面同时显示当前机位、检测目标、训练时长和AI状态，辅助判断是否具备分析条件。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52F1A-DD5A-46B7-BAF0-C9DBE95D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最多4人的人员结构和入口已有，自动识别及结果归属的稳定性需多人场景验证。</a:t>
            </a:r>
          </a:p>
        </p:txBody>
      </p:sp>
    </p:spTree>
    <p:extLst>
      <p:ext uri="{BB962C8B-B14F-4D97-AF65-F5344CB8AC3E}">
        <p14:creationId xmlns:p14="http://schemas.microsoft.com/office/powerpoint/2010/main" val="1811784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C500D-AB52-4E74-804C-5D1ED7E1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人员档案与身份资料管理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1745D-7152-4657-A219-D9DD872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人员管理为训练选择、比赛参赛和身份识别提供统一的数据来源。基础资料与训练限制集中维护，历史记录保留可追溯关系。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6EEF1-BE0E-4CF2-8C89-BC6A564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17C15-9D9A-42DC-BE6A-04C2B074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档案维护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94063-68D6-4E0A-A35B-1BE2488B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运动员资料包括姓名、编号、年龄组、项目、身高体重、等级、惯用方向和起跳脚等。教练通过独立入口维护，支持列表查找和详情编辑。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FF276-E1CD-42AB-AC8C-37689908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训练信息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2DF6C-E069-4E0B-9C07-3DE4632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档案可记录伤病限制及训练禁忌，供教练安排训练时参考。归档人员退出后续训练选择，已有历史记录继续保留。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AAE27-3D30-4DB7-BDF8-361F845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身份关联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CD38C-D47C-46E8-9186-0850195C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项目已有ReID身份样本提取与保存流程，用于将检测到的人与运动员档案关联。样本质量及冰场服装差异会影响实际识别效果，需要实测。</a:t>
            </a:r>
          </a:p>
        </p:txBody>
      </p:sp>
    </p:spTree>
    <p:extLst>
      <p:ext uri="{BB962C8B-B14F-4D97-AF65-F5344CB8AC3E}">
        <p14:creationId xmlns:p14="http://schemas.microsoft.com/office/powerpoint/2010/main" val="1542708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2073E-696B-42CB-84D2-993B54E3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比赛、场次与参赛关系管理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CBF6-5883-4379-B241-4AE9D7EA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比赛模块把分析记录放到具体赛事背景下，支持按比赛和场次组织结果，而不只是保存一条独立训练记录。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C8AD4-51A9-4576-A104-7571DF5F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43343-F923-424D-83A7-67F90B08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比赛资料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38FAA-E510-40FD-8BC1-12D6E496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维护比赛名称、类型、日期、地点和备注，支持列表搜索、新增、保存与归档。比赛资料作为场次及相关结果的上级信息。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C2989-F6E2-4274-B696-BC32480B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场次组织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DF9F0-1B28-4161-AE8E-6BA5BCB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在比赛下维护场次名称、项目、组别、分组或轮次及计划时间。先保存比赛，再维护下级场次，保证业务关系明确。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FBD1A-340D-4BBE-8E2D-79A1F21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参赛与结果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A1F41-CE23-42FD-9032-2287632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从已有运动员档案选择参赛人员，避免同场次重复添加。训练设置关联比赛和场次后，历史查询可以按比赛维度定位结果。</a:t>
            </a:r>
          </a:p>
        </p:txBody>
      </p:sp>
    </p:spTree>
    <p:extLst>
      <p:ext uri="{BB962C8B-B14F-4D97-AF65-F5344CB8AC3E}">
        <p14:creationId xmlns:p14="http://schemas.microsoft.com/office/powerpoint/2010/main" val="355405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5529A-9E77-4D45-9783-26E84BC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历史记录查询与资料组织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5A8D-AA52-4745-9DBC-1AE78507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历史复盘采用左侧记录列表、右侧当前详情的结构，先定位训练，再集中查看录像、结果、训练背景和教练意见。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21DB1-D15B-4EC1-A3C0-B29295DA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CB878-A56E-440F-94CF-2394C1DA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组合检索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D9EF-C851-46B0-8CC3-D7F33DF1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按运动员、来源、比赛和日期筛选，更多筛选承接教练、动作、场次及分数等条件。列表支持分页和排序，便于在多次训练中定位目标记录。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18AF8-8140-4644-9FB9-CAD40871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记录详情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4B690-C6BD-49FC-856D-31B33616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当前记录展示训练摘要、时间、场地、动作标准、业务来源和教练批注。列表与详情保持联动，减少在多个窗口之间反复查找。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6BB5E-98F5-4401-BD5E-8591EB07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复盘入口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B1925-DCB4-4781-B10B-BEFC3862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播放录像、复盘校准、轨迹与速度、编辑批注、导出报告集中在当前记录。动作检索、比赛管理和报告中心作为页面级入口保留。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C9E19-1FF6-4571-9FC7-938435A8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截图中的人员、比赛及评分含测试数据，不作为当前算法精度证明。</a:t>
            </a:r>
          </a:p>
        </p:txBody>
      </p:sp>
    </p:spTree>
    <p:extLst>
      <p:ext uri="{BB962C8B-B14F-4D97-AF65-F5344CB8AC3E}">
        <p14:creationId xmlns:p14="http://schemas.microsoft.com/office/powerpoint/2010/main" val="546579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0CF2A-D0D5-40C4-AA70-A20EA40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录像回看与人工复盘校准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D2CF1-94BB-47E7-8553-6BCC68BA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复盘页以训练录像为主、标准参考为辅，把动作片段和人工复核放在同一页面，便于教练核对过程并保存修正结果。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1655-4287-4DB5-B89A-581CA821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C94C0-F871-44F0-BDB9-C4F3EEFC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视频回看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523A1-C4B3-440E-85F5-9E95045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对有效的本地录像提供播放、暂停、慢放、逐帧及片段切换。</a:t>
            </a:r>
          </a:p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标准参考区可配置对照录像，辅助教练观察动作差异。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6ABA4-309C-4BB2-9593-DDCC864A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片段复核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73786-7AFE-4022-BE16-E778295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选择动作片段后，可调整开始和结束时间，核对有效性及已有分数信息，也可以新增手动动作。复核结果继续关联到对应训练记录。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649DF-07D8-41BD-9C42-385C27E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94914-183E-4F9C-B1FC-A59B619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没有录像时仍可处理已有人工复核信息，但无法完成画面对照。网络实时流的回放和定位能力取决于媒体来源，不能等同于本地录像。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2388D-5706-46DE-AC68-83966B90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当前新训练不自动生成动作计数和技术评分，历史评分展示与人工复核是独立能力。</a:t>
            </a:r>
          </a:p>
        </p:txBody>
      </p:sp>
    </p:spTree>
    <p:extLst>
      <p:ext uri="{BB962C8B-B14F-4D97-AF65-F5344CB8AC3E}">
        <p14:creationId xmlns:p14="http://schemas.microsoft.com/office/powerpoint/2010/main" val="53369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98148-3DF3-4A62-BA7A-E15474F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二维轨迹、速度与数据导出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58886-2504-4BB6-80C9-CC80476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轨迹和速度把连续视频中的位置变化转成可回看的训练数据。当前链路依赖身份关联和场地标定，需要结合现场精度进行评价。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122C7-3E22-4F5B-88F7-136E2FC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4423-D71D-4ABD-87EE-CDF683E3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位置映射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3D07D-8C10-4570-8B35-81C4BC0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按机位维护四点标定，将图像位置映射到统一场地坐标。选择参与轨迹的机位，为多机位位置数据进入同一场地视图提供基础。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8F211-2DEE-497B-87E1-F144459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速度与存储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71C6A-EEDE-4775-8259-BF3B63B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当前代码已有轨迹点、瞬时速度和平滑速度的生成及存储路径。结果保留人员、时间和机位信息，便于查询来源和关联训练记录。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28309-E9F6-46BB-9959-437528A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回看与导出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E1AE1-D527-4A9A-BE10-8FA767F2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历史页可进入轨迹与速度查看，现有路径支持相关数据的CSV或XLSX导出。后续验证重点包括跨机位连续性、速度误差和缺失数据处理。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666C3-E6F4-4E0A-A63D-B260B38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轨迹视图中的跑道为示意几何，不能作为官方场地尺寸或精度标尺。</a:t>
            </a:r>
          </a:p>
        </p:txBody>
      </p:sp>
    </p:spTree>
    <p:extLst>
      <p:ext uri="{BB962C8B-B14F-4D97-AF65-F5344CB8AC3E}">
        <p14:creationId xmlns:p14="http://schemas.microsoft.com/office/powerpoint/2010/main" val="137896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532D5-EE07-432F-8687-5238B84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离线导入与完整分析任务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BD824-23DB-4831-86C9-8017BEE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系统将视频处理组织为可查看状态的任务。普通离线导入与12路完整分析使用不同入口和控制方式，便于分别管理处理过程。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827AF-1C3A-47E7-9366-30F16151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86F66-BC81-4999-B95C-12590BB0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离线导入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34BD3-5563-4CBC-B20E-3461055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任务中心显示导入任务的类型、进度、输入摘要和错误信息。离线导入支持暂停、继续和取消，处理结果的训练关联需要在任务完成后核对。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E4EEE-42E1-4A5D-B5C8-24DE642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完整分析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A35E4-9DD0-42F1-92DF-05651BA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按12路机位配置NAS视频源及时间校正，创建批次并管理运行。</a:t>
            </a:r>
          </a:p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任务服务与Ubuntu分析端共同承接处理流程。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6338F-7D63-4B99-B65F-6A951DBA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异常恢复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857B6-CA3C-44EE-B222-2E55A57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完整分析根据运行状态提供取消、重试和结果激活。实际可用性应通过失败重试、取消后的残留处理及完成结果回写进行验证。</a:t>
            </a:r>
          </a:p>
        </p:txBody>
      </p:sp>
    </p:spTree>
    <p:extLst>
      <p:ext uri="{BB962C8B-B14F-4D97-AF65-F5344CB8AC3E}">
        <p14:creationId xmlns:p14="http://schemas.microsoft.com/office/powerpoint/2010/main" val="248067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CDF8A-58C4-421F-A821-F2708D6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系统状态、存储与运行维护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5D470-100B-4D62-8AD2-C2E74BB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运行管理页面让现场人员先确认服务、模型和机位状态，再开展训练与分析。存储设置用于管理已登记的视频资产和保留策略。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C3461-7F59-46A7-9E6E-76ABBFE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943D1-0E63-4A82-A7F5-6A2EB35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状态检查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CD020-9315-49A4-93FB-F3C97D43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系统状态显示API、数据库、检测和身份识别能力、摄像头及存储状态。手动执行检查会探测已配置机位，并保留逐路结果供排障。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6D538-6462-47CD-AE77-3D775EA0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存储策略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50AD-45E3-4FF3-A7FA-D7A2CBA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可设置录像根目录、容量限制和保留天数，扫描已登记视频资产并查看清理候选。清理候选不应与训练记录本身混淆。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E922E-5761-4420-B5D4-1A318C82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交付保障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AE3F1-9D9B-4002-A2C4-4E48CAC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计划表还覆盖环境诊断、日志、备份恢复、部署与用户手册等工作。当前可见状态页只是运行保障的一部分，交付需另行核对材料和验收用例。</a:t>
            </a:r>
          </a:p>
        </p:txBody>
      </p:sp>
    </p:spTree>
    <p:extLst>
      <p:ext uri="{BB962C8B-B14F-4D97-AF65-F5344CB8AC3E}">
        <p14:creationId xmlns:p14="http://schemas.microsoft.com/office/powerpoint/2010/main" val="19482933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36692-0C12-4156-BDCD-17F8D1A9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集成工作计划与阶段目标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B3F3D-BA8C-44AE-A957-7E9D833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按原计划表的五个阶段组织交付重点。已有界面和代码是阶段成果，现场验证、专项输出和验收材料仍需分别核对。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3D6B6-6C76-4399-A825-2568B84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495550"/>
          <a:ext xmlns:a="http://schemas.openxmlformats.org/drawingml/2006/main" cx="140208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762625"/>
                <a:gridCol w="5067300"/>
              </a:tblGrid>
              <a:tr h="793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计划阶段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阶段应形成的成果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第1阶段：部署接入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运行环境、12路配置、连通性及分析负载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部署清单、现场配置、连接与稳定性记录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第2阶段：数据与回放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录像索引、离线导入、比赛归属和历史查询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可定位的训练记录、媒体关联及复盘结果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第3阶段：多人承接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身份协议、参与人、轨迹速度及关节指标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按人和时间组织的分析结果及验证数据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第4阶段：工程化运行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任务、服务、日志、诊断和数据维护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可追踪、可恢复的运行流程与排障材料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第5阶段：验收交付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指标报告、验收用例、手册和培训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经核验的功能成果与交付资料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0BAA5-D1AE-4BC6-86C1-8E3E3A8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952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计划表未提供统一更新的完成状态，本页不将阶段顺序转换为完成百分比。</a:t>
            </a:r>
          </a:p>
        </p:txBody>
      </p:sp>
    </p:spTree>
    <p:extLst>
      <p:ext uri="{BB962C8B-B14F-4D97-AF65-F5344CB8AC3E}">
        <p14:creationId xmlns:p14="http://schemas.microsoft.com/office/powerpoint/2010/main" val="1906327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31B58-9923-4F0F-A330-69F08DF2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实时训练工作台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CF176-8EC3-4BA2-8E11-144EDC1F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主画面与机位预览用于现场观察，右侧集中展示当前对象和训练控制。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F01E-2ED0-45EE-BF50-CA02571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95a5b46d6478a"/>
          <a:stretch xmlns:a="http://schemas.openxmlformats.org/drawingml/2006/main"/>
        </p:blipFill>
        <p:spPr>
          <a:xfrm xmlns:a="http://schemas.openxmlformats.org/drawingml/2006/main">
            <a:off x="964142" y="2324100"/>
            <a:ext cx="9482667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9075C-6B80-48BA-980F-B41B71C6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观察画面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04B4A-756A-4949-AECA-2FDDA0DD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上方为主视频，下方为二维轨迹和12路相机预览。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3EB7C-8554-4EF9-B10F-A04774A2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确认对象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05692-BA70-48CE-9B2B-1D2EDEEE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查看运动员、机位和时长，同时查看速度与AI状态。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A0177-BD50-4B19-B287-69AAFD7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控制训练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06046-ED87-4387-B6C0-5BFA84CE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完成设置后开始训练，结束后保存记录并进入复盘。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4F0A7-848A-4527-8FC6-D3D34E66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截图未开始训练，机位未形成在线分析画面。</a:t>
            </a:r>
          </a:p>
        </p:txBody>
      </p:sp>
    </p:spTree>
    <p:extLst>
      <p:ext uri="{BB962C8B-B14F-4D97-AF65-F5344CB8AC3E}">
        <p14:creationId xmlns:p14="http://schemas.microsoft.com/office/powerpoint/2010/main" val="15510580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61AC8-01B9-40E3-9053-DE9D63B9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训练参数与业务上下文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F5244-AAA3-4849-84DB-77A79B51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以侧边设置区配置本次训练，将人员、动作项目和比赛场次关联起来。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CD24D-8B74-4125-9B67-03A7A1B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ae51eb4e94159"/>
          <a:stretch xmlns:a="http://schemas.openxmlformats.org/drawingml/2006/main"/>
        </p:blipFill>
        <p:spPr>
          <a:xfrm xmlns:a="http://schemas.openxmlformats.org/drawingml/2006/main">
            <a:off x="964142" y="2324100"/>
            <a:ext cx="9482667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76DB3-EC0F-4EEC-8BEC-4D9DC39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分析条件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70DE9-E12F-402A-A8B4-A25A1E55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选择模型精度和分析帧率，按设备与训练需求调整。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CCAFF-3D1B-423C-AFE0-AF72EDA5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人员归属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1C059-26BF-42EF-950E-57CC5C8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选择运动员、教练及参与人，维护本次训练的人员关系。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C9777-6D61-4D90-AB7F-F04C36AC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训练内容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4D93A-9F60-47DD-86D6-115C1FF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关联比赛和场次，填写场地、阶段、动作标准及目标。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62800-7FEB-4739-9D5F-3C72E25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人员入口已有，现场4人识别效果另行验证。</a:t>
            </a:r>
          </a:p>
        </p:txBody>
      </p:sp>
    </p:spTree>
    <p:extLst>
      <p:ext uri="{BB962C8B-B14F-4D97-AF65-F5344CB8AC3E}">
        <p14:creationId xmlns:p14="http://schemas.microsoft.com/office/powerpoint/2010/main" val="8388367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09CE5-8C62-408B-A3E3-45A936E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人员档案管理界面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E8E8A-6AE6-4E7D-9C87-52D10C06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左侧查找档案，右侧维护详情，保存与归档操作直接对应当前选中人员。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7BEC8-40C3-42AA-8582-C72B0880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26de90ff74b6e"/>
          <a:stretch xmlns:a="http://schemas.openxmlformats.org/drawingml/2006/main"/>
        </p:blipFill>
        <p:spPr>
          <a:xfrm xmlns:a="http://schemas.openxmlformats.org/drawingml/2006/main">
            <a:off x="1564607" y="2324100"/>
            <a:ext cx="8281737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AA312-61B9-4755-9564-1424AA6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查找人员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E4733-BFEF-4B9E-9566-4979A0C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通过运动员、教练分类及姓名或编号搜索定位档案。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BD691-DD71-4A08-8C40-5D5639DC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维护信息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33479-C67D-4463-95C1-466749E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填写基本资料、训练项目及个人训练限制。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5530E-EA3B-4D20-ACB5-BA2A559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保留历史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E948E-803F-42D1-8BFE-0E7124C0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归档用于停止后续选择，已有历史关联继续保留。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B1061-98BF-436C-8B2B-2D36D292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当前截图为运动员页，列表包含测试人员。</a:t>
            </a:r>
          </a:p>
        </p:txBody>
      </p:sp>
    </p:spTree>
    <p:extLst>
      <p:ext uri="{BB962C8B-B14F-4D97-AF65-F5344CB8AC3E}">
        <p14:creationId xmlns:p14="http://schemas.microsoft.com/office/powerpoint/2010/main" val="13341981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DF001-181B-47F9-8817-25C08D31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比赛与场次管理界面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34816-8AEA-4C39-B906-ECDAD1E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通过比赛列表和详情维护赛事资料，并在同一业务关系下管理场次和参赛人员。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A081-AF15-4E57-89A9-326E847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0fb19d60a47f6"/>
          <a:stretch xmlns:a="http://schemas.openxmlformats.org/drawingml/2006/main"/>
        </p:blipFill>
        <p:spPr>
          <a:xfrm xmlns:a="http://schemas.openxmlformats.org/drawingml/2006/main">
            <a:off x="1494422" y="2324100"/>
            <a:ext cx="8422105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53C5C-5A5E-4430-A195-534E1C6A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比赛资料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37898-A87E-419D-A30A-DB866EB0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维护名称、类型、时间、地点及备注。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CF564-5F5E-4412-9F9F-EB49160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场次资料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FABB3-35CB-4AA4-9276-A6CEE3DA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选择当前比赛下的场次，维护组别、轮次和计划时间。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3F9B0-208D-4909-94BB-DCBF2D2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训练关联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E41BC-2426-4BD8-A629-104728F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比赛与场次可在训练设置中选用，并进入历史筛选。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3F43E-4D9B-4B96-BA77-E804E665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画面内容为测试比赛资料。</a:t>
            </a:r>
          </a:p>
        </p:txBody>
      </p:sp>
    </p:spTree>
    <p:extLst>
      <p:ext uri="{BB962C8B-B14F-4D97-AF65-F5344CB8AC3E}">
        <p14:creationId xmlns:p14="http://schemas.microsoft.com/office/powerpoint/2010/main" val="1218869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AA999-945A-4D61-841B-6A8E474B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历史检索与记录详情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49C36-4976-4F6A-9C07-1402DC66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筛选区、分页列表和训练详情相互配合，按一次训练集中组织后续操作。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85193-66D0-499D-B5E5-EA679A68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7a640b06e4e92"/>
          <a:stretch xmlns:a="http://schemas.openxmlformats.org/drawingml/2006/main"/>
        </p:blipFill>
        <p:spPr>
          <a:xfrm xmlns:a="http://schemas.openxmlformats.org/drawingml/2006/main">
            <a:off x="964142" y="2324100"/>
            <a:ext cx="9482667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0F250-78AD-4954-B253-11CCF526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先筛选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66E86-91AC-446C-8063-0763C48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按人员、来源、比赛和日期缩小记录范围。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A1E54-C044-457B-8025-0A4A49AC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再定位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B5B82-AA66-4E1A-A201-2B32AEFA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在列表选择记录，右侧展示摘要、背景与批注。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E9B0C-6B23-470A-86E3-14C4A79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进入复盘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7AC92-B2F0-493F-BBCE-88192411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打开录像、复盘校准或轨迹速度，也可导出报告。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0B68B-7A5F-465D-A62D-1CD30FD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历史分数包含测试数据，不代表当前自动评分效果。</a:t>
            </a:r>
          </a:p>
        </p:txBody>
      </p:sp>
    </p:spTree>
    <p:extLst>
      <p:ext uri="{BB962C8B-B14F-4D97-AF65-F5344CB8AC3E}">
        <p14:creationId xmlns:p14="http://schemas.microsoft.com/office/powerpoint/2010/main" val="11072562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6D1DF-B22F-493D-865D-E12457BA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训练录像与复盘校准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81527-2762-46FE-95EA-B39ED38F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训练回放、标准参考、动作片段和人工复核信息放在同一窗口中。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14BC5-EFE3-4736-AD9B-BBB2853E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9bc7206754c1c"/>
          <a:stretch xmlns:a="http://schemas.openxmlformats.org/drawingml/2006/main"/>
        </p:blipFill>
        <p:spPr>
          <a:xfrm xmlns:a="http://schemas.openxmlformats.org/drawingml/2006/main">
            <a:off x="964142" y="2324100"/>
            <a:ext cx="9482667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800DA-28ED-4B5E-A1EC-3104B50A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回看动作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D7DDA-93DA-44B0-8FD3-2AAA0345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使用慢放、逐帧及片段切换观察训练过程。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4E924-6B6E-48AD-996B-4909B950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对照参考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341CE-9FB8-4EA1-9E86-A2FF875A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配置标准参考视频，结合实际录像核对动作。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05101-E104-4793-BC92-88C4DB05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保存复核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BC2C2-0025-4696-A261-AEB3A8BD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调整片段起止时间与有效性，保存已有结果或手动动作。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E3B47-0D55-4DE6-98D3-34AA5A65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截图暂无实际录像画面，播放需有效媒体来源。</a:t>
            </a:r>
          </a:p>
        </p:txBody>
      </p:sp>
    </p:spTree>
    <p:extLst>
      <p:ext uri="{BB962C8B-B14F-4D97-AF65-F5344CB8AC3E}">
        <p14:creationId xmlns:p14="http://schemas.microsoft.com/office/powerpoint/2010/main" val="17989296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14929-6642-4D76-8875-ECC84A61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后台分析任务中心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8E036-342B-41C2-9557-2FD45913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以任务列表和详情展示处理进度，让用户能查看输入内容、状态和异常原因。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76F96-D07D-4BE5-B05F-E4E28B25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df611b0674871"/>
          <a:stretch xmlns:a="http://schemas.openxmlformats.org/drawingml/2006/main"/>
        </p:blipFill>
        <p:spPr>
          <a:xfrm xmlns:a="http://schemas.openxmlformats.org/drawingml/2006/main">
            <a:off x="1334558" y="2324100"/>
            <a:ext cx="874183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FA6A9-A5F4-49F7-BA6D-E6FF91E7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任务概况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1D70F-F85A-48EA-B03F-766EA1C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通过筛选查看任务类型、完成情况及处理进度。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560C6-E44C-4DBF-A895-758CFCE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输入与错误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951E6-1BA8-4035-AC89-9B4B214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当前任务详情显示文件摘要和失败信息。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22E06-3FB5-4360-B8DF-2563325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结果关联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79E81-6B70-4028-8D13-7E83E78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核对任务的输出训练记录，确认结果可以进入历史复盘。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89CBC-5A0A-489A-862C-3BD2C7A0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所选任务显示已完成，但输出训练字段为空。</a:t>
            </a:r>
          </a:p>
        </p:txBody>
      </p:sp>
    </p:spTree>
    <p:extLst>
      <p:ext uri="{BB962C8B-B14F-4D97-AF65-F5344CB8AC3E}">
        <p14:creationId xmlns:p14="http://schemas.microsoft.com/office/powerpoint/2010/main" val="12038589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8EB38-6629-4325-BDF1-655F203A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12路完整分析配置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958C5-96E1-4F35-B282-4746367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通过NAS文件与机位配置建立分析批次，并为多源时间对齐保留校正参数。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7EBD6-36C7-4F24-B1CF-C4A22351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0f319102d4a6d"/>
          <a:stretch xmlns:a="http://schemas.openxmlformats.org/drawingml/2006/main"/>
        </p:blipFill>
        <p:spPr>
          <a:xfrm xmlns:a="http://schemas.openxmlformats.org/drawingml/2006/main">
            <a:off x="1860033" y="2324100"/>
            <a:ext cx="7690884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69776-EFF2-448D-B037-33A001C8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准备输入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6D09D-F678-4EB1-9F7A-895133C1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维护NAS根目录及CAM 01～12视频源。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084ED-86D3-4E38-ACF8-5E121B8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时间信息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480F2-A581-40E3-86BD-0FE7375E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填写帧率、时长、源开始时间和校正量，或导入清单。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9B8EA-2B34-410C-A7C0-2E7D995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创建分析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F41F1-2555-44A3-9572-B06B1F74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提交后查看运行状态，按状态恢复任务或激活结果。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CB183-AF0D-486D-8167-6C27CEF2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当前截图尚未配置输入，也未创建分析批次。</a:t>
            </a:r>
          </a:p>
        </p:txBody>
      </p:sp>
    </p:spTree>
    <p:extLst>
      <p:ext uri="{BB962C8B-B14F-4D97-AF65-F5344CB8AC3E}">
        <p14:creationId xmlns:p14="http://schemas.microsoft.com/office/powerpoint/2010/main" val="8905326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258DD-7A14-4099-86E6-6CFE83C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服务、模型与摄像头状态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17379-8502-4025-B1C1-2D39BFE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把系统运行所需的关键状态集中展示，便于训练前检查和现场故障定位。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2590-9706-4F68-8EB8-5BC2B69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d537b45b6445a"/>
          <a:stretch xmlns:a="http://schemas.openxmlformats.org/drawingml/2006/main"/>
        </p:blipFill>
        <p:spPr>
          <a:xfrm xmlns:a="http://schemas.openxmlformats.org/drawingml/2006/main">
            <a:off x="964142" y="2324100"/>
            <a:ext cx="9482667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059AB-BDE8-4254-81A1-758AD1E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训练服务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81B1B-6638-413C-9D3B-6B5E79C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查看API连接和数据库状态，以及最近检查时间。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CCE50-13E1-4ACC-BD57-34063169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算法能力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4855F-8129-4B05-839F-6EF39217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分别显示Person检测和身份识别，避免混淆能力状态。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58F0C-994D-4AA4-96F6-AE792FF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现场资源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DDE66-D46A-4B94-A6F8-3392E041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检查相机配置、在线情况、存储和分析任务。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DCFE0-4F02-4191-BC33-4555C28A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截图中模型可用，摄像头在线状态尚未检测。</a:t>
            </a:r>
          </a:p>
        </p:txBody>
      </p:sp>
    </p:spTree>
    <p:extLst>
      <p:ext uri="{BB962C8B-B14F-4D97-AF65-F5344CB8AC3E}">
        <p14:creationId xmlns:p14="http://schemas.microsoft.com/office/powerpoint/2010/main" val="3329458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18AFE-1A71-4B12-B148-756A9610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视频连接与机位配置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C0403-0AA6-4B37-8054-D76C56F2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公共连接规则与各机位地址分开维护，减少12路摄像头重复配置。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59585-C4D9-4018-8FFA-046FCD3B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294d0a25a43fb"/>
          <a:stretch xmlns:a="http://schemas.openxmlformats.org/drawingml/2006/main"/>
        </p:blipFill>
        <p:spPr>
          <a:xfrm xmlns:a="http://schemas.openxmlformats.org/drawingml/2006/main">
            <a:off x="1845343" y="2324100"/>
            <a:ext cx="772026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F52F7-2EF1-493C-8A3A-C42514B2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连接规则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D7E9E-E11E-4231-900E-F00BBF6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配置账号、端口、主辅码流路径和NVR回放模板。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6080D-F740-4AA2-B369-3C20A76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机位地址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270F-D1EB-4A0D-BD54-A061426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按固定CAM编号维护IP，保持视频与机位关系。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D7550-25EF-46FA-B439-77DA4CBB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部署操作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D652-BD55-4132-93F2-F316269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使用模板导入导出和连通测试辅助现场装调。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73A52-B730-4AEB-9759-4B08214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30/60 FPS为配置值，不是当前处理性能实测。</a:t>
            </a:r>
          </a:p>
        </p:txBody>
      </p:sp>
    </p:spTree>
    <p:extLst>
      <p:ext uri="{BB962C8B-B14F-4D97-AF65-F5344CB8AC3E}">
        <p14:creationId xmlns:p14="http://schemas.microsoft.com/office/powerpoint/2010/main" val="2704743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6F5A1-E144-47EB-93A2-CC69BD8A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场地坐标与机位标定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3C215-0E3C-478E-9516-4C84F5F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按机位维护场地覆盖及四点映射，为二维轨迹的数据统一提供基础。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5F238-3A92-43AB-8250-64F9EA4F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74f3106b84365"/>
          <a:stretch xmlns:a="http://schemas.openxmlformats.org/drawingml/2006/main"/>
        </p:blipFill>
        <p:spPr>
          <a:xfrm xmlns:a="http://schemas.openxmlformats.org/drawingml/2006/main">
            <a:off x="1845343" y="2324100"/>
            <a:ext cx="772026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BCED9-EA22-4EC8-8ED1-7F014B62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参与范围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454B4-1521-40A9-A10B-30E53C6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选择哪些机位参与轨迹，并维护覆盖区间。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FAC0A-8FCA-4981-814C-FBB3FD92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空间参数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DABA6-8C39-4F6B-9A34-6680AFE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设置场地位置、高度及朝向等机位信息。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22A7C-A8AC-4055-A3C9-4DBE1172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四点标定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A4BC2-ED4B-45B4-8EF0-36F2FC3F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输入画面点与场地坐标对应关系，现场验证映射误差。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2AC32-D316-4DA4-B950-11C641E2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默认区间与跑道示意不能替代实地测量。</a:t>
            </a:r>
          </a:p>
        </p:txBody>
      </p:sp>
    </p:spTree>
    <p:extLst>
      <p:ext uri="{BB962C8B-B14F-4D97-AF65-F5344CB8AC3E}">
        <p14:creationId xmlns:p14="http://schemas.microsoft.com/office/powerpoint/2010/main" val="9972813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9FC49-ABBA-430C-B621-525F1ED5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AI分析负载与性能参数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32602-D5F1-480F-969B-836D8B24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将画面预览和分析处理分开配置，按设备能力控制实时分析负载。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4BD92-3B4A-4DCA-95B5-57401355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a89b3805c4e09"/>
          <a:stretch xmlns:a="http://schemas.openxmlformats.org/drawingml/2006/main"/>
        </p:blipFill>
        <p:spPr>
          <a:xfrm xmlns:a="http://schemas.openxmlformats.org/drawingml/2006/main">
            <a:off x="1845343" y="2324100"/>
            <a:ext cx="772026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43CA3-1365-4948-A919-8CE694DF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精度与流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BB55C-2D28-4282-B88D-9BC077EC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选择模型精度和分析流来源。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578E-DAB5-4062-AD38-E6E5D3B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处理规模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DE89E-A4F3-4CDA-A374-58690CB5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设置目标分析帧率和最大参与路数。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F9D9B-5561-46E4-8F1E-44CA7EA3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超载处理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1779-8B1F-4F04-991B-531DC4EB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超载时降低非主机位频率，优先保持主机位分析的连续性。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8F898-8B89-4A78-871B-1ED597D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5 FPS与12路是目标设置，实际结果需测量。</a:t>
            </a:r>
          </a:p>
        </p:txBody>
      </p:sp>
    </p:spTree>
    <p:extLst>
      <p:ext uri="{BB962C8B-B14F-4D97-AF65-F5344CB8AC3E}">
        <p14:creationId xmlns:p14="http://schemas.microsoft.com/office/powerpoint/2010/main" val="15374932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5ABEF-E1FE-474C-8C0B-02CC047D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存储容量与保留策略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BF4A1-A7A0-4AE6-888A-C67B8B3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通过根目录、容量限制和保留天数，管理已登记视频资产的保存与清理候选。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AB9CF-EE86-44C6-8AAE-BCCA802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a0f506a6640f1"/>
          <a:stretch xmlns:a="http://schemas.openxmlformats.org/drawingml/2006/main"/>
        </p:blipFill>
        <p:spPr>
          <a:xfrm xmlns:a="http://schemas.openxmlformats.org/drawingml/2006/main">
            <a:off x="1845343" y="2324100"/>
            <a:ext cx="772026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20FFC-3157-47D7-93AC-DD31B5E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479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保存位置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18C3E-DC06-44CD-BA9E-FE8AB6C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337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选择录像目录，并设置容量上限与保留天数。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6C9BE-880C-4944-990C-38F3B46A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7195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候选扫描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0B76-FEFB-41EC-9900-A68A815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657725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扫描已登记资产，查看可清理文件数量和容量状态。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5AE01-58A8-4B4C-9331-5A924805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959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记录保留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04C14-355B-4E50-B454-71A35775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817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清理面向视频资产，训练记录继续保留关联信息。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02703-86D0-4BA2-9D89-38A89F0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8192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截图文件登记量为0，持续录像和回放需另行验收。</a:t>
            </a:r>
          </a:p>
        </p:txBody>
      </p:sp>
    </p:spTree>
    <p:extLst>
      <p:ext uri="{BB962C8B-B14F-4D97-AF65-F5344CB8AC3E}">
        <p14:creationId xmlns:p14="http://schemas.microsoft.com/office/powerpoint/2010/main" val="9258111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5838-DAB5-4044-812D-9E551BF4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算法集成状态总览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21D91-986D-4FB0-8818-7FBBD07E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基础检测与身份识别已接入，轨迹速度已有代码链路。多人和12路处理仍需实测闭环，专项姿态输出是后续重点。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C487-5E8E-4476-B199-75934EEC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495550"/>
          <a:ext xmlns:a="http://schemas.openxmlformats.org/drawingml/2006/main" cx="140208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5524500"/>
                <a:gridCol w="4972050"/>
              </a:tblGrid>
              <a:tr h="793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当前集成状态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仍需验证或补齐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人体检测、身份识别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模型接入及状态展示已有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冰场漏检、遮挡、相似服装、误绑定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二维轨迹与速度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标定、计算、存储和导出已有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场地精度、跨机位连续性、速度误差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最多4人结果关联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参与人结构、协议及选择入口已有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4人同场、跨镜身份和结果归属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12路完整帧率分析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输入配置、任务服务与worker代码已有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真实批次、全链路结果、吞吐与资源占用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3D、关节指标、自动评分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当前新训练尚无完整自动输出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算法接入、定义统一、时序对齐与评测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D7B4F-DAC4-4BDC-A5A2-10B02224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952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集成状态依据截图与当前代码，尚无统一现场验收数据，不计算整体完成百分比。</a:t>
            </a:r>
          </a:p>
        </p:txBody>
      </p:sp>
    </p:spTree>
    <p:extLst>
      <p:ext uri="{BB962C8B-B14F-4D97-AF65-F5344CB8AC3E}">
        <p14:creationId xmlns:p14="http://schemas.microsoft.com/office/powerpoint/2010/main" val="6726938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29A97-A044-445D-8D96-2DE38025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基础算法：检测、身份与轨迹速度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D0296-D32C-4EFA-B813-087F755F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当前基础链路先识别人和身份，再将位置映射到场地并形成轨迹速度。已有模块接入与数据结构，但现场效果仍需独立验证。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39503-6EA7-47F5-857D-CC313DE9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93334-1F85-41AA-834F-5B9C92D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检测与身份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86334-3C37-4DE3-A390-E43F9B2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模型配置采用YOLO26x的人体检测及TransReID身份特征。结果协议包含机位、时间戳、轨迹ID、人员ID和身份状态，支持继续关联训练参与人。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685E6-DDA4-4233-B7B9-61A8645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轨迹与速度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BC5F9-DA3F-44CA-928C-D985C039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图像位置经四点标定映射到场地坐标，连续位置用于计算速度。轨迹点与速度数据保留时间、机位及有效性等字段，并提供历史查看和导出路径。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8329F-5EE6-472B-8AAC-5D1FF68B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验证重点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15529-4D9F-4815-A74E-8AF5DA29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使用冰场真实视频检查漏检、误识别、遮挡恢复与跨镜连续性。再对照参考位置和时间，记录轨迹与速度误差，保留可复核结果。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29FDC-FDF5-422C-81B3-60F94BD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模型显示“可用”表示初始化能力，不代表识别精度或轨迹精度已达标。</a:t>
            </a:r>
          </a:p>
        </p:txBody>
      </p:sp>
    </p:spTree>
    <p:extLst>
      <p:ext uri="{BB962C8B-B14F-4D97-AF65-F5344CB8AC3E}">
        <p14:creationId xmlns:p14="http://schemas.microsoft.com/office/powerpoint/2010/main" val="10013993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5A101-4BBB-4E68-A315-785E4C2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多人及12路完整分析的集成进度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0645A-B5C9-460F-A871-F88D8EA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系统已有多人承接与完整分析任务结构。下一步用真实批次验证输入、处理、保存和复盘，核对人员与结果关联。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B9502-DC0B-4967-B121-9AA8905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35921-18E3-4799-89AF-6BC05A8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3BEDD-2479-4E70-925B-175A8E5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训练参与人结构限制为1～4个槽位，结果可携带参与人标识。完整分析配置覆盖12路源，并维护NAS路径、时间校正和运行状态。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25677-726D-40FE-961D-C20CCB98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待跑通的批次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83D5A-A736-467E-8596-F1191D9A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准备相同训练场景的12路视频，核对机位编号和时间基准，提交任务并检查是否产生正确输出。完成后从历史记录回看人员、轨迹和媒体关联。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454F5-EC8E-4470-93BA-507B935C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待记录的指标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921EC-E292-43F3-945F-77B89E2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验证4人交叉与跨镜识别，统计归属错误和身份恢复情况。完整分析记录处理帧数、耗时及资源占用，同时检查失败重试、取消和结果激活。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8ECA5-CA66-41B2-874D-7722B42B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当前完整分析截图尚未创建批次，任务中心所选记录缺少输出训练，不能视为端到端验收通过。</a:t>
            </a:r>
          </a:p>
        </p:txBody>
      </p:sp>
    </p:spTree>
    <p:extLst>
      <p:ext uri="{BB962C8B-B14F-4D97-AF65-F5344CB8AC3E}">
        <p14:creationId xmlns:p14="http://schemas.microsoft.com/office/powerpoint/2010/main" val="10613156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945B0-4360-43D6-8908-9AB0E73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专项姿态与自动评分仍待补齐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63906-1C1B-4D79-8A75-DCC9850F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原计划包含连续姿态、关节角度和角速度等专项指标。当前新训练尚不生成3D骨架、自动动作计数和技术评分。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E1DBC-BAC4-44A4-9D09-D7FA455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2E3D8-34B4-451A-B4D5-861E6292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0FDB1-EEBA-4F83-89BC-A8113C3D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已有历史动作、评分和人工复核界面，数据库也存在关节指标结构。这些属于结果承接能力，尚不能证明专项算法已提供稳定有效输出。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75D62-01D2-4EB3-B353-09BD5F43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集成内容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C709F-B35E-4D11-9657-E0F301C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后续需明确骨架关键点、左右侧关节角定义、角速度单位及有效性条件，再把专项输出与运动员、视频帧和统一时间戳关联。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B1B46-F99E-4BE9-B73A-3F3EFEC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9A"/>
                </a:solidFill>
                <a:latin typeface="Microsoft YaHei"/>
                <a:ea typeface="Microsoft YaHei"/>
                <a:cs typeface="Microsoft YaHei"/>
              </a:rPr>
              <a:t>验收方式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38949-D43D-4E12-818F-4F94F39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1133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通过带参考标注的真实训练样本核对姿态与动作片段，对比分数和教练复核结果。输出缺失时保留缺失状态，不用历史分数替代当前分析结果。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C6BBD-FA68-4B0D-B41F-A0D2FFC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当前判断是“承接结构部分已有，专项自动输出尚待接入和验证”。</a:t>
            </a:r>
          </a:p>
        </p:txBody>
      </p:sp>
    </p:spTree>
    <p:extLst>
      <p:ext uri="{BB962C8B-B14F-4D97-AF65-F5344CB8AC3E}">
        <p14:creationId xmlns:p14="http://schemas.microsoft.com/office/powerpoint/2010/main" val="17738600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BCE97-FAF5-4CDB-93CD-684CB0FE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下一阶段工作与验收依据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7DC1C-80DD-4D58-9F88-041CB8E0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90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先跑通基础业务和真实批次，再补齐专项算法及交付材料。按可验证的结果推进，具体日期结合现场资源确认。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E499F-8B0A-4239-AF3B-EB0C639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67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495550"/>
          <a:ext xmlns:a="http://schemas.openxmlformats.org/drawingml/2006/main" cx="140208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572250"/>
                <a:gridCol w="4543425"/>
              </a:tblGrid>
              <a:tr h="793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推进顺序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具体工作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6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应保留的验收依据</a:t>
                      </a:r>
                    </a:p>
                  </a:txBody>
                  <a:tcPr marL="91440" marR="91440" marT="45720" marB="45720">
                    <a:solidFill>
                      <a:srgbClr val="EAF2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现场采集与标定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确认相机、存储、录像来源与场地四点标定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连接记录、有效录像、标定点及误差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基础算法与多人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验证检测、身份、轨迹速度及4人结果归属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人工对照样本、误识别和轨迹速度误差记录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完整分析闭环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提交真实12路批次，验证恢复与结果回写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任务输入、处理记录、输出训练及复盘结果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专项输出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接入3D姿态、关节指标与动作评分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指标定义、时间对齐结果和教练复核记录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交付验收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补齐阶段报告、功能用例、部署与操作手册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4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逐项用例结果、数据报告及培训材料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CD766-903D-4786-B980-5F42469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952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2"/>
                </a:solidFill>
                <a:latin typeface="Microsoft YaHei"/>
                <a:ea typeface="Microsoft YaHei"/>
                <a:cs typeface="Microsoft YaHei"/>
              </a:rPr>
              <a:t>当前主要成果是业务界面与基础算法接入，后续重点是现场效果、完整批次与专项指标。</a:t>
            </a:r>
          </a:p>
        </p:txBody>
      </p:sp>
    </p:spTree>
    <p:extLst>
      <p:ext uri="{BB962C8B-B14F-4D97-AF65-F5344CB8AC3E}">
        <p14:creationId xmlns:p14="http://schemas.microsoft.com/office/powerpoint/2010/main" val="954432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2026-09-09T07:16:24.0290000Z</dcterms:created>
  <dcterms:modified xsi:type="dcterms:W3CDTF">2026-09-09T07:16:24.0290000Z</dcterms:modified>
</coreProperties>
</file>