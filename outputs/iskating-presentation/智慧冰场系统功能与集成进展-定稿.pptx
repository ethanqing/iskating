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d1ef0a4d444dee" /><Relationship Type="http://schemas.openxmlformats.org/officeDocument/2006/relationships/extended-properties" Target="/docProps/app.xml" Id="R0355f4a396a547d0" /><Relationship Type="http://schemas.openxmlformats.org/officeDocument/2006/relationships/officeDocument" Target="/ppt/presentation.xml" Id="R912d12b482cc423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e33294f7b894eb5"/>
  </p:sldMasterIdLst>
  <p:notesMasterIdLst>
    <p:notesMasterId xmlns:r="http://schemas.openxmlformats.org/officeDocument/2006/relationships" r:id="R17bd245af33a4fa8"/>
  </p:notesMasterIdLst>
  <p:sldIdLst>
    <p:sldId xmlns:r="http://schemas.openxmlformats.org/officeDocument/2006/relationships" id="256" r:id="R6999415846f84778"/>
    <p:sldId xmlns:r="http://schemas.openxmlformats.org/officeDocument/2006/relationships" id="257" r:id="R32b3589b641b423d"/>
    <p:sldId xmlns:r="http://schemas.openxmlformats.org/officeDocument/2006/relationships" id="258" r:id="Rb09f9ac5908e4079"/>
    <p:sldId xmlns:r="http://schemas.openxmlformats.org/officeDocument/2006/relationships" id="259" r:id="R5a5a966b092f495b"/>
    <p:sldId xmlns:r="http://schemas.openxmlformats.org/officeDocument/2006/relationships" id="260" r:id="R4811db1cd79440cc"/>
    <p:sldId xmlns:r="http://schemas.openxmlformats.org/officeDocument/2006/relationships" id="261" r:id="Re2a76e7fe10d4c54"/>
    <p:sldId xmlns:r="http://schemas.openxmlformats.org/officeDocument/2006/relationships" id="262" r:id="R14e9e62e0e5343aa"/>
    <p:sldId xmlns:r="http://schemas.openxmlformats.org/officeDocument/2006/relationships" id="263" r:id="Rda477115733b4eb9"/>
    <p:sldId xmlns:r="http://schemas.openxmlformats.org/officeDocument/2006/relationships" id="264" r:id="R6727fa787faa4573"/>
    <p:sldId xmlns:r="http://schemas.openxmlformats.org/officeDocument/2006/relationships" id="265" r:id="R9ddc9fbf53ea48d2"/>
    <p:sldId xmlns:r="http://schemas.openxmlformats.org/officeDocument/2006/relationships" id="266" r:id="R6a41683ac18541b0"/>
    <p:sldId xmlns:r="http://schemas.openxmlformats.org/officeDocument/2006/relationships" id="267" r:id="R8cc48647687e449b"/>
    <p:sldId xmlns:r="http://schemas.openxmlformats.org/officeDocument/2006/relationships" id="268" r:id="R8bbc023d007e4f69"/>
    <p:sldId xmlns:r="http://schemas.openxmlformats.org/officeDocument/2006/relationships" id="269" r:id="Re1a2075e16624aab"/>
    <p:sldId xmlns:r="http://schemas.openxmlformats.org/officeDocument/2006/relationships" id="270" r:id="R3637596b3f8b4d85"/>
    <p:sldId xmlns:r="http://schemas.openxmlformats.org/officeDocument/2006/relationships" id="271" r:id="Rf22b8ba616ff49c7"/>
    <p:sldId xmlns:r="http://schemas.openxmlformats.org/officeDocument/2006/relationships" id="272" r:id="Rc5abcbd1e6464fa9"/>
    <p:sldId xmlns:r="http://schemas.openxmlformats.org/officeDocument/2006/relationships" id="273" r:id="Rb4ec94ae99844ee6"/>
    <p:sldId xmlns:r="http://schemas.openxmlformats.org/officeDocument/2006/relationships" id="274" r:id="R2197c0c62a164605"/>
    <p:sldId xmlns:r="http://schemas.openxmlformats.org/officeDocument/2006/relationships" id="275" r:id="Rbd473e402ee34b05"/>
    <p:sldId xmlns:r="http://schemas.openxmlformats.org/officeDocument/2006/relationships" id="276" r:id="R4675f622626a4adb"/>
    <p:sldId xmlns:r="http://schemas.openxmlformats.org/officeDocument/2006/relationships" id="277" r:id="R57a90edf46d24291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98d5c9afd76c43fb"/>
      <p:bold xmlns:r="http://schemas.openxmlformats.org/officeDocument/2006/relationships" r:id="R8a6a65f004aa4c46"/>
      <p:italic xmlns:r="http://schemas.openxmlformats.org/officeDocument/2006/relationships" r:id="Rbd2df412179e43c6"/>
      <p:boldItalic xmlns:r="http://schemas.openxmlformats.org/officeDocument/2006/relationships" r:id="R578ae577b5ad4da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77e93520c34707" /><Relationship Type="http://schemas.openxmlformats.org/officeDocument/2006/relationships/slideMaster" Target="/ppt/slideMasters/slideMaster1.xml" Id="R4e33294f7b894eb5" /><Relationship Type="http://schemas.openxmlformats.org/officeDocument/2006/relationships/notesMaster" Target="/ppt/notesMasters/notesMaster1.xml" Id="R17bd245af33a4fa8" /><Relationship Type="http://schemas.openxmlformats.org/officeDocument/2006/relationships/presProps" Target="/ppt/presProps.xml" Id="Rac12208e5af348e3" /><Relationship Type="http://schemas.openxmlformats.org/officeDocument/2006/relationships/viewProps" Target="/ppt/viewProps.xml" Id="R7585f53e796a4a14" /><Relationship Type="http://schemas.openxmlformats.org/officeDocument/2006/relationships/tableStyles" Target="/ppt/tableStyles.xml" Id="Rebf661d864df4153" /><Relationship Type="http://schemas.openxmlformats.org/officeDocument/2006/relationships/font" Target="/ppt/fonts/font.dat" Id="R98d5c9afd76c43fb" /><Relationship Type="http://schemas.openxmlformats.org/officeDocument/2006/relationships/font" Target="/ppt/fonts/font2.dat" Id="R8a6a65f004aa4c46" /><Relationship Type="http://schemas.openxmlformats.org/officeDocument/2006/relationships/font" Target="/ppt/fonts/font3.dat" Id="Rbd2df412179e43c6" /><Relationship Type="http://schemas.openxmlformats.org/officeDocument/2006/relationships/font" Target="/ppt/fonts/font4.dat" Id="R578ae577b5ad4da1" /><Relationship Type="http://schemas.openxmlformats.org/officeDocument/2006/relationships/slide" Target="/ppt/slides/slide1.xml" Id="R6999415846f84778" /><Relationship Type="http://schemas.openxmlformats.org/officeDocument/2006/relationships/slide" Target="/ppt/slides/slide2.xml" Id="R32b3589b641b423d" /><Relationship Type="http://schemas.openxmlformats.org/officeDocument/2006/relationships/slide" Target="/ppt/slides/slide3.xml" Id="Rb09f9ac5908e4079" /><Relationship Type="http://schemas.openxmlformats.org/officeDocument/2006/relationships/slide" Target="/ppt/slides/slide4.xml" Id="R5a5a966b092f495b" /><Relationship Type="http://schemas.openxmlformats.org/officeDocument/2006/relationships/slide" Target="/ppt/slides/slide5.xml" Id="R4811db1cd79440cc" /><Relationship Type="http://schemas.openxmlformats.org/officeDocument/2006/relationships/slide" Target="/ppt/slides/slide6.xml" Id="Re2a76e7fe10d4c54" /><Relationship Type="http://schemas.openxmlformats.org/officeDocument/2006/relationships/slide" Target="/ppt/slides/slide7.xml" Id="R14e9e62e0e5343aa" /><Relationship Type="http://schemas.openxmlformats.org/officeDocument/2006/relationships/slide" Target="/ppt/slides/slide8.xml" Id="Rda477115733b4eb9" /><Relationship Type="http://schemas.openxmlformats.org/officeDocument/2006/relationships/slide" Target="/ppt/slides/slide9.xml" Id="R6727fa787faa4573" /><Relationship Type="http://schemas.openxmlformats.org/officeDocument/2006/relationships/slide" Target="/ppt/slides/slide10.xml" Id="R9ddc9fbf53ea48d2" /><Relationship Type="http://schemas.openxmlformats.org/officeDocument/2006/relationships/slide" Target="/ppt/slides/slide11.xml" Id="R6a41683ac18541b0" /><Relationship Type="http://schemas.openxmlformats.org/officeDocument/2006/relationships/slide" Target="/ppt/slides/slide12.xml" Id="R8cc48647687e449b" /><Relationship Type="http://schemas.openxmlformats.org/officeDocument/2006/relationships/slide" Target="/ppt/slides/slide13.xml" Id="R8bbc023d007e4f69" /><Relationship Type="http://schemas.openxmlformats.org/officeDocument/2006/relationships/slide" Target="/ppt/slides/slide14.xml" Id="Re1a2075e16624aab" /><Relationship Type="http://schemas.openxmlformats.org/officeDocument/2006/relationships/slide" Target="/ppt/slides/slide15.xml" Id="R3637596b3f8b4d85" /><Relationship Type="http://schemas.openxmlformats.org/officeDocument/2006/relationships/slide" Target="/ppt/slides/slide16.xml" Id="Rf22b8ba616ff49c7" /><Relationship Type="http://schemas.openxmlformats.org/officeDocument/2006/relationships/slide" Target="/ppt/slides/slide17.xml" Id="Rc5abcbd1e6464fa9" /><Relationship Type="http://schemas.openxmlformats.org/officeDocument/2006/relationships/slide" Target="/ppt/slides/slide18.xml" Id="Rb4ec94ae99844ee6" /><Relationship Type="http://schemas.openxmlformats.org/officeDocument/2006/relationships/slide" Target="/ppt/slides/slide19.xml" Id="R2197c0c62a164605" /><Relationship Type="http://schemas.openxmlformats.org/officeDocument/2006/relationships/slide" Target="/ppt/slides/slide20.xml" Id="Rbd473e402ee34b05" /><Relationship Type="http://schemas.openxmlformats.org/officeDocument/2006/relationships/slide" Target="/ppt/slides/slide21.xml" Id="R4675f622626a4adb" /><Relationship Type="http://schemas.openxmlformats.org/officeDocument/2006/relationships/slide" Target="/ppt/slides/slide22.xml" Id="R57a90edf46d242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86994b112c43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41d57ffeee454f" /><Relationship Type="http://schemas.openxmlformats.org/officeDocument/2006/relationships/notesMaster" Target="/ppt/notesMasters/notesMaster1.xml" Id="R283e29775ea44d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e27f6d17184bc6" /><Relationship Type="http://schemas.openxmlformats.org/officeDocument/2006/relationships/notesMaster" Target="/ppt/notesMasters/notesMaster1.xml" Id="R572cf3fbf4d440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c9431a36fd4a61" /><Relationship Type="http://schemas.openxmlformats.org/officeDocument/2006/relationships/notesMaster" Target="/ppt/notesMasters/notesMaster1.xml" Id="R2d78fd0e398048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6216696da040a7" /><Relationship Type="http://schemas.openxmlformats.org/officeDocument/2006/relationships/notesMaster" Target="/ppt/notesMasters/notesMaster1.xml" Id="Rff9f6a668a724d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93d6c1b65a4947" /><Relationship Type="http://schemas.openxmlformats.org/officeDocument/2006/relationships/notesMaster" Target="/ppt/notesMasters/notesMaster1.xml" Id="Re527592e849143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e29e7c021a44bc" /><Relationship Type="http://schemas.openxmlformats.org/officeDocument/2006/relationships/notesMaster" Target="/ppt/notesMasters/notesMaster1.xml" Id="Rdc9017dfc2924e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d7b49107b54e47" /><Relationship Type="http://schemas.openxmlformats.org/officeDocument/2006/relationships/notesMaster" Target="/ppt/notesMasters/notesMaster1.xml" Id="Rcd2c0f2f008f4f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72b5047bf34741" /><Relationship Type="http://schemas.openxmlformats.org/officeDocument/2006/relationships/notesMaster" Target="/ppt/notesMasters/notesMaster1.xml" Id="R99341ea108a34b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5d8ab9f0624021" /><Relationship Type="http://schemas.openxmlformats.org/officeDocument/2006/relationships/notesMaster" Target="/ppt/notesMasters/notesMaster1.xml" Id="R3c82f1d1cf194a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215543fd3e442e" /><Relationship Type="http://schemas.openxmlformats.org/officeDocument/2006/relationships/notesMaster" Target="/ppt/notesMasters/notesMaster1.xml" Id="R3e025a30112249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a6ad605f9949f1" /><Relationship Type="http://schemas.openxmlformats.org/officeDocument/2006/relationships/notesMaster" Target="/ppt/notesMasters/notesMaster1.xml" Id="R3be2506ea14046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b79f0620ba44e4" /><Relationship Type="http://schemas.openxmlformats.org/officeDocument/2006/relationships/notesMaster" Target="/ppt/notesMasters/notesMaster1.xml" Id="R1aad3fe354df4e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a477a2dcd64f0d" /><Relationship Type="http://schemas.openxmlformats.org/officeDocument/2006/relationships/notesMaster" Target="/ppt/notesMasters/notesMaster1.xml" Id="Re340dabdaf9648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c3ef1d5f6c4ac5" /><Relationship Type="http://schemas.openxmlformats.org/officeDocument/2006/relationships/notesMaster" Target="/ppt/notesMasters/notesMaster1.xml" Id="R34df3d3c0e2048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7aedfa1a8044c4" /><Relationship Type="http://schemas.openxmlformats.org/officeDocument/2006/relationships/notesMaster" Target="/ppt/notesMasters/notesMaster1.xml" Id="R9581bec5612146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e9517491564c7c" /><Relationship Type="http://schemas.openxmlformats.org/officeDocument/2006/relationships/notesMaster" Target="/ppt/notesMasters/notesMaster1.xml" Id="R56b9baf387d247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fe9931eb7e4fdd" /><Relationship Type="http://schemas.openxmlformats.org/officeDocument/2006/relationships/notesMaster" Target="/ppt/notesMasters/notesMaster1.xml" Id="Rb1ae2c71f95549f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547c14c47b74e8c" /><Relationship Type="http://schemas.openxmlformats.org/officeDocument/2006/relationships/notesMaster" Target="/ppt/notesMasters/notesMaster1.xml" Id="Rfe24226426f140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26ba5372e44ed2" /><Relationship Type="http://schemas.openxmlformats.org/officeDocument/2006/relationships/notesMaster" Target="/ppt/notesMasters/notesMaster1.xml" Id="Ra8bd9c7a78264e3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4e8fcf1a554659" /><Relationship Type="http://schemas.openxmlformats.org/officeDocument/2006/relationships/notesMaster" Target="/ppt/notesMasters/notesMaster1.xml" Id="R0f99a4d172d942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b35dca7f0e4649" /><Relationship Type="http://schemas.openxmlformats.org/officeDocument/2006/relationships/notesMaster" Target="/ppt/notesMasters/notesMaster1.xml" Id="R6397504bceb34fa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4f5d50000fc4751" /><Relationship Type="http://schemas.openxmlformats.org/officeDocument/2006/relationships/notesMaster" Target="/ppt/notesMasters/notesMaster1.xml" Id="R92d1b56c4cdd4c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《智慧冰场系统集成工作计划表.xlsb》、screen-shots目录13张截图，以及当前项目README和有限的相关源码核对。计划表是工作范围与历史缺口清单，无统一最新完成率，不据此推算整体完成百分比。截图含测试记录，不能作为现场验收数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计划表：功能实现F-01～F-38，共38项；软件界面U-01～U-31，共31项。此页概括建设范围，不代表全部完成。当前实现依据README与截图，最后部分单列算法边界及验证缺口。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计划表F-04～F-07、F-18、F-21～F-22，U-04～U-07、U-16、U-19。截图：主界面、训练设置、系统设置-1、系统设置-3。12路是配置能力，截图摄像头未形成在线训练画面，不据此声称12路性能达标。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计划表F-16～F-20、F-22，U-14～U-18。截图：人员管理、比赛管理、训练设置、历史复盘。README人员管理、比赛管理和历史复盘说明；server/app/schema.py已存在competition及participant相关结构。人员样本流程依据README，截图当前只显示基础资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计划表F-12、F-19～F-20、F-24～F-27，U-11、U-17～U-18、U-22～U-23、U-29。截图：历史复盘、复盘校准。README：当前新训练不生成自动动作计数或技术评分，历史展示的分数不得作为当前自动评分效果证据。src/ui/mainwindow.cpp轨迹速度查看与CSV/XLSX导出路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计划表F-13～F-15、F-28～F-36，U-01～U-05、U-10、U-12～U-13、U-24～U-28。截图：任务中心、完整分析、系统状态、系统设置-4。README：完整分析与离线导入操作不同，完整分析取消/重试/激活依赖Run状态。截图完整分析尚未创建批次，不能证明已跑通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来源：screen-shots/主界面.png，原始截图完整保留，未改写界面数据。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说明：主视频、二维轨迹、12路相机与训练控制集中展示。截图处于未开始训练状态，暂无现场实测轨迹。当前界面中的测试人员、比赛、分数和任务记录仅用于展示。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来源：screen-shots/训练设置.png，原始截图完整保留，未改写界面数据。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说明：选择训练人员、比赛场次与动作标准，调整分析参数。参与2～4为人员选择入口，识别效果需多人场景验证。当前界面中的测试人员、比赛、分数和任务记录仅用于展示。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来源：screen-shots/人员管理.png，原始截图完整保留，未改写界面数据。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说明：按档案列表选择运动员，维护基本资料与训练信息。界面包含运动员和教练两个管理入口。当前界面中的测试人员、比赛、分数和任务记录仅用于展示。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来源：screen-shots/比赛管理.png，原始截图完整保留，未改写界面数据。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说明：维护比赛资料与场次，为训练结果建立比赛归属。当前画面为测试比赛资料。当前界面中的测试人员、比赛、分数和任务记录仅用于展示。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来源：screen-shots/历史复盘.png，原始截图完整保留，未改写界面数据。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说明：组合筛选与分页列表配合当前记录详情，集中提供复盘入口。截图中的历史分数属于测试记录。当前界面中的测试人员、比赛、分数和任务记录仅用于展示。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来源：screen-shots/复盘校准.png，原始截图完整保留，未改写界面数据。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说明：训练录像和标准参考并排查看，动作片段支持人工校准。当前截图没有实际录像画面，支持的播放能力以有效媒体为前提。当前界面中的测试人员、比赛、分数和任务记录仅用于展示。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来源：screen-shots/任务中心.png，原始截图完整保留，未改写界面数据。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说明：查看任务类型、处理进度、输入摘要与错误信息。所选任务显示已完成，但输出训练为空，结果关联仍需核验。当前界面中的测试人员、比赛、分数和任务记录仅用于展示。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来源：screen-shots/完整分析.png，原始截图完整保留，未改写界面数据。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说明：配置NAS视频源和时间校正，创建并管理完整帧率分析。当前12路源待配置，尚未创建分析批次。当前界面中的测试人员、比赛、分数和任务记录仅用于展示。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来源：screen-shots/系统状态.png，原始截图完整保留，未改写界面数据。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说明：统一查看训练服务、AI能力、摄像头和本机资源。截图中服务已连接、模型可用，相机在线状态尚未检测。当前界面中的测试人员、比赛、分数和任务记录仅用于展示。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来源：screen-shots/系统设置-1.png，原始截图完整保留，未改写界面数据。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说明：公共连接参数、机位IP、配置模板及连通测试集中管理。预览帧率与主码流帧率为配置值，不代表实测性能。当前界面中的测试人员、比赛、分数和任务记录仅用于展示。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来源：screen-shots/系统设置-2.png，原始截图完整保留，未改写界面数据。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说明：按机位设置覆盖范围，并维护二维轨迹所需的四点标定。需要现场统一场地坐标并验证拼接误差。当前界面中的测试人员、比赛、分数和任务记录仅用于展示。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来源：screen-shots/系统设置-3.png，原始截图完整保留，未改写界面数据。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说明：配置分析流、目标帧率、最大分析路数与自动降级。图中5 FPS与12路是目标设置，实际吞吐需现场测量。当前界面中的测试人员、比赛、分数和任务记录仅用于展示。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来源：screen-shots/系统设置-4.png，原始截图完整保留，未改写界面数据。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说明：设置录像目录、容量上限和保留天数，扫描清理候选。当前已登记文件为0，截图不能证明持续录像与回放已验收。当前界面中的测试人员、比赛、分数和任务记录仅用于展示。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来源：models/athlete/athlete_models.json（YOLO26x person检测、TransReID ViT-Base MSMT17身份特征）；src/domain/athleteanalysisresult.h（cameraId、timestampMs、athleteId、participantId、trackId及身份状态）；server/app/schema.py（training_session_participants、track_points、speed_metrics、joint_metrics）；src/ui/mainwindow.cpp（四点映射、速度计算、轨迹速度查看及导出）；analysis_worker/worker.py（完整分析worker）；README当前模型能力边界；截图系统状态、完整分析、训练设置。数据库存在joint_metrics结构不等于算法已有有效输出。计划表F-21～F-27、F-28～F-32。本页是集成状态评估，无现场性能认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README、当前源码和用户截图作出的后续工作建议。计划表F-21～F-27、U-19～U-23。现有截图不能证明现场识别率、轨迹精度、速度误差或全帧率性能。历史测试动作与评分字段不代表当前新训练能自动生成这些结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建议安排，未设定未经确认的截止日期或完成率。对应计划表第3阶段多人承接、第4阶段工程化运行、第5阶段验收交付。计划表F-21～F-38、U-19～U-31。汇报结论：系统主要业务界面和基础算法接入已有成果，现场端到端验证及专项姿态算法是后续重点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f0d007e2348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ff3257fc742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842c1f9ad4d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45b6ca8e044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23b0306f640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d097feaa745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b6380bdfe496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c7b0f1b674ed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c11f695d3a44ca" /><Relationship Type="http://schemas.openxmlformats.org/officeDocument/2006/relationships/slideLayout" Target="/ppt/slideLayouts/slideLayout1.xml" Id="Reffb24716c6b4572" /><Relationship Type="http://schemas.openxmlformats.org/officeDocument/2006/relationships/slideLayout" Target="/ppt/slideLayouts/slideLayout2.xml" Id="R11daf39ea5764116" /><Relationship Type="http://schemas.openxmlformats.org/officeDocument/2006/relationships/slideLayout" Target="/ppt/slideLayouts/slideLayout3.xml" Id="Ra63392a6cedf4e68" /><Relationship Type="http://schemas.openxmlformats.org/officeDocument/2006/relationships/slideLayout" Target="/ppt/slideLayouts/slideLayout4.xml" Id="R24f8273352c54123" /><Relationship Type="http://schemas.openxmlformats.org/officeDocument/2006/relationships/slideLayout" Target="/ppt/slideLayouts/slideLayout5.xml" Id="R29f4147787ce4b32" /><Relationship Type="http://schemas.openxmlformats.org/officeDocument/2006/relationships/slideLayout" Target="/ppt/slideLayouts/slideLayout6.xml" Id="R1a60f53a9ebd4198" /><Relationship Type="http://schemas.openxmlformats.org/officeDocument/2006/relationships/slideLayout" Target="/ppt/slideLayouts/slideLayout7.xml" Id="R58fe49f759ce4394" /><Relationship Type="http://schemas.openxmlformats.org/officeDocument/2006/relationships/slideLayout" Target="/ppt/slideLayouts/slideLayout8.xml" Id="R772746af51e3461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fb24716c6b4572"/>
    <p:sldLayoutId xmlns:r="http://schemas.openxmlformats.org/officeDocument/2006/relationships" id="2147483650" r:id="R11daf39ea5764116"/>
    <p:sldLayoutId xmlns:r="http://schemas.openxmlformats.org/officeDocument/2006/relationships" id="2147483651" r:id="Ra63392a6cedf4e68"/>
    <p:sldLayoutId xmlns:r="http://schemas.openxmlformats.org/officeDocument/2006/relationships" id="2147483652" r:id="R24f8273352c54123"/>
    <p:sldLayoutId xmlns:r="http://schemas.openxmlformats.org/officeDocument/2006/relationships" id="2147483653" r:id="R29f4147787ce4b32"/>
    <p:sldLayoutId xmlns:r="http://schemas.openxmlformats.org/officeDocument/2006/relationships" id="2147483654" r:id="R1a60f53a9ebd4198"/>
    <p:sldLayoutId xmlns:r="http://schemas.openxmlformats.org/officeDocument/2006/relationships" id="2147483655" r:id="R58fe49f759ce4394"/>
    <p:sldLayoutId xmlns:r="http://schemas.openxmlformats.org/officeDocument/2006/relationships" id="2147483656" r:id="R772746af51e3461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d6ae9f7f14a6e" /><Relationship Type="http://schemas.openxmlformats.org/officeDocument/2006/relationships/notesSlide" Target="/ppt/notesSlides/notesSlide1.xml" Id="R6b110f58ae4544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783605b11492e" /><Relationship Type="http://schemas.openxmlformats.org/officeDocument/2006/relationships/notesSlide" Target="/ppt/notesSlides/notesSlide2.xml" Id="Rfa6ba6e0ba1b46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37105763f94449" /><Relationship Type="http://schemas.openxmlformats.org/officeDocument/2006/relationships/notesSlide" Target="/ppt/notesSlides/notesSlide3.xml" Id="Re5558d8c816044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ea8358632d453b" /><Relationship Type="http://schemas.openxmlformats.org/officeDocument/2006/relationships/notesSlide" Target="/ppt/notesSlides/notesSlide4.xml" Id="R084f2f4f20a14a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f11f637df478c" /><Relationship Type="http://schemas.openxmlformats.org/officeDocument/2006/relationships/notesSlide" Target="/ppt/notesSlides/notesSlide5.xml" Id="R39ab2dec6f2e4f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f8b18a743486c" /><Relationship Type="http://schemas.openxmlformats.org/officeDocument/2006/relationships/notesSlide" Target="/ppt/notesSlides/notesSlide6.xml" Id="R39f9682c59a845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2ca2d986c4181" /><Relationship Type="http://schemas.openxmlformats.org/officeDocument/2006/relationships/image" Target="/ppt/media/image.png" Id="R262c9edfa25243d8" /><Relationship Type="http://schemas.openxmlformats.org/officeDocument/2006/relationships/notesSlide" Target="/ppt/notesSlides/notesSlide7.xml" Id="R9828f11307f046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07e00745a46a7" /><Relationship Type="http://schemas.openxmlformats.org/officeDocument/2006/relationships/image" Target="/ppt/media/image2.png" Id="Rf1d3adeb76e74fde" /><Relationship Type="http://schemas.openxmlformats.org/officeDocument/2006/relationships/notesSlide" Target="/ppt/notesSlides/notesSlide8.xml" Id="R0594e7170e2b4b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e4a116a2e47fa" /><Relationship Type="http://schemas.openxmlformats.org/officeDocument/2006/relationships/image" Target="/ppt/media/image3.png" Id="R2308926241ff44df" /><Relationship Type="http://schemas.openxmlformats.org/officeDocument/2006/relationships/notesSlide" Target="/ppt/notesSlides/notesSlide9.xml" Id="Re7411d1aaf0a42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b54ed3fc6f4ad2" /><Relationship Type="http://schemas.openxmlformats.org/officeDocument/2006/relationships/image" Target="/ppt/media/image4.png" Id="Rae735ebabf5b4f66" /><Relationship Type="http://schemas.openxmlformats.org/officeDocument/2006/relationships/notesSlide" Target="/ppt/notesSlides/notesSlide10.xml" Id="R676823f360ed4c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3809fe38244ab" /><Relationship Type="http://schemas.openxmlformats.org/officeDocument/2006/relationships/image" Target="/ppt/media/image5.png" Id="Rbfbdbf371bf44529" /><Relationship Type="http://schemas.openxmlformats.org/officeDocument/2006/relationships/notesSlide" Target="/ppt/notesSlides/notesSlide11.xml" Id="R796e9344269d49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c48b5ff3f4a8d" /><Relationship Type="http://schemas.openxmlformats.org/officeDocument/2006/relationships/image" Target="/ppt/media/image6.png" Id="R53401a7a6bed40e6" /><Relationship Type="http://schemas.openxmlformats.org/officeDocument/2006/relationships/notesSlide" Target="/ppt/notesSlides/notesSlide12.xml" Id="R02b43b98f9dd4f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ab8d2b7e140c1" /><Relationship Type="http://schemas.openxmlformats.org/officeDocument/2006/relationships/image" Target="/ppt/media/image7.png" Id="R559bdc85b71f4fe3" /><Relationship Type="http://schemas.openxmlformats.org/officeDocument/2006/relationships/notesSlide" Target="/ppt/notesSlides/notesSlide13.xml" Id="Rf556b62c195a4d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68cb70e654882" /><Relationship Type="http://schemas.openxmlformats.org/officeDocument/2006/relationships/image" Target="/ppt/media/image8.png" Id="R0055acacee474b4a" /><Relationship Type="http://schemas.openxmlformats.org/officeDocument/2006/relationships/notesSlide" Target="/ppt/notesSlides/notesSlide14.xml" Id="R72a318c3e0d641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3520569974270" /><Relationship Type="http://schemas.openxmlformats.org/officeDocument/2006/relationships/image" Target="/ppt/media/image9.png" Id="R251bb12145164f16" /><Relationship Type="http://schemas.openxmlformats.org/officeDocument/2006/relationships/notesSlide" Target="/ppt/notesSlides/notesSlide15.xml" Id="R9c57a8466da246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5490f44fb4956" /><Relationship Type="http://schemas.openxmlformats.org/officeDocument/2006/relationships/image" Target="/ppt/media/image10.png" Id="R5799095a7ca8451b" /><Relationship Type="http://schemas.openxmlformats.org/officeDocument/2006/relationships/notesSlide" Target="/ppt/notesSlides/notesSlide16.xml" Id="Rdfd6158a1df64ff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13f41bbf64da8" /><Relationship Type="http://schemas.openxmlformats.org/officeDocument/2006/relationships/image" Target="/ppt/media/image11.png" Id="R7d28f098563048d9" /><Relationship Type="http://schemas.openxmlformats.org/officeDocument/2006/relationships/notesSlide" Target="/ppt/notesSlides/notesSlide17.xml" Id="R804cf690fa734ed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6c2904563a4a52" /><Relationship Type="http://schemas.openxmlformats.org/officeDocument/2006/relationships/image" Target="/ppt/media/image12.png" Id="R2b169d72a46442d1" /><Relationship Type="http://schemas.openxmlformats.org/officeDocument/2006/relationships/notesSlide" Target="/ppt/notesSlides/notesSlide18.xml" Id="Race145f3e3a943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c2f99edfe3415b" /><Relationship Type="http://schemas.openxmlformats.org/officeDocument/2006/relationships/image" Target="/ppt/media/image13.png" Id="R83e40f0957284f49" /><Relationship Type="http://schemas.openxmlformats.org/officeDocument/2006/relationships/notesSlide" Target="/ppt/notesSlides/notesSlide19.xml" Id="Rc2f6758b8c3a481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33b0d96e34097" /><Relationship Type="http://schemas.openxmlformats.org/officeDocument/2006/relationships/notesSlide" Target="/ppt/notesSlides/notesSlide20.xml" Id="R06385882cfb647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3e29fd4574b97" /><Relationship Type="http://schemas.openxmlformats.org/officeDocument/2006/relationships/notesSlide" Target="/ppt/notesSlides/notesSlide21.xml" Id="Re31561b3d01b48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d24795e2c4329" /><Relationship Type="http://schemas.openxmlformats.org/officeDocument/2006/relationships/notesSlide" Target="/ppt/notesSlides/notesSlide22.xml" Id="R22be05b1c54642e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9575" y="3067050"/>
            <a:ext cx="11144250" cy="20955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智慧冰场系统</a:t>
            </a:r>
          </a:p>
          <a:p xmlns:a="http://schemas.openxmlformats.org/drawingml/2006/main">
            <a:pPr>
              <a:defRPr sz="4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功能、界面与算法集成进展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23875"/>
            <a:ext cx="666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iSkating 系统集成汇报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3875"/>
            <a:ext cx="2190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2026年9月</a:t>
            </a:r>
          </a:p>
        </p:txBody>
      </p:sp>
    </p:spTree>
    <p:extLst>
      <p:ext uri="{BB962C8B-B14F-4D97-AF65-F5344CB8AC3E}">
        <p14:creationId xmlns:p14="http://schemas.microsoft.com/office/powerpoint/2010/main" val="20588552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E2598689-54C9-18A7-3A19-ED76AA08988F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系统功能范围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09575" y="2000250"/>
            <a:ext cx="5381625" cy="180975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视频采集与训练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12路机位配置与预览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训练人员、场次和分析参数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7925" y="2000250"/>
            <a:ext cx="5381625" cy="180975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业务管理与复盘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人员档案、比赛和训练记录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历史筛选、录像回看与人工复核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191000"/>
            <a:ext cx="5381625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分析结果与任务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身份关联、二维轨迹与速度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离线导入和完整分析任务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91000"/>
            <a:ext cx="5381625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系统运行与交付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服务、模型、相机和存储状态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现场联调、专项指标与验收材料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84439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202359C0-8A7A-196E-DD58-8E6569619F09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视频接入与训练组织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907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多机位采集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配置公共RTSP参数与12路机位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切换主画面，查看各路连接状态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调整分析帧率、路数与降级策略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训练上下文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选择运动员、教练和参与人员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关联比赛、场次和动作标准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开始、暂停、停止并保存训练</a:t>
            </a:r>
          </a:p>
        </p:txBody>
      </p:sp>
    </p:spTree>
    <p:extLst>
      <p:ext uri="{BB962C8B-B14F-4D97-AF65-F5344CB8AC3E}">
        <p14:creationId xmlns:p14="http://schemas.microsoft.com/office/powerpoint/2010/main" val="14776131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EFD6AB9A-5F9E-5F59-51AB-3C8734130965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人员、比赛与训练记录管理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907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基础档案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管理运动员与教练资料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维护项目、等级和训练限制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通过身份样本支持人员识别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比赛与记录归属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维护比赛、场次及参赛关系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训练结果关联人员和业务来源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历史记录支持组合筛选与分页</a:t>
            </a:r>
          </a:p>
        </p:txBody>
      </p:sp>
    </p:spTree>
    <p:extLst>
      <p:ext uri="{BB962C8B-B14F-4D97-AF65-F5344CB8AC3E}">
        <p14:creationId xmlns:p14="http://schemas.microsoft.com/office/powerpoint/2010/main" val="4623036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EE5B3003-2C54-13C6-9832-7637201064DE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历史复盘与分析结果查看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907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查询与回看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按运动员、来源、比赛和日期查询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打开对应记录的录像与动作片段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支持慢放、逐帧及标准参考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复核与导出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人工调整动作片段及复核结果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查看轨迹、速度和教练批注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通过现有入口导出报告或指标</a:t>
            </a:r>
          </a:p>
        </p:txBody>
      </p:sp>
    </p:spTree>
    <p:extLst>
      <p:ext uri="{BB962C8B-B14F-4D97-AF65-F5344CB8AC3E}">
        <p14:creationId xmlns:p14="http://schemas.microsoft.com/office/powerpoint/2010/main" val="14927137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8C630A04-5A25-9E0C-9436-126091DB86B3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分析任务与系统运行管理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907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任务处理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任务中心显示状态、进度与错误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离线导入提供暂停、继续和取消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完整分析支持12路源配置及Run管理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运行保障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查看训练服务、模型和相机状态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按需执行连接检查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配置存储目录、容量与保留策略</a:t>
            </a:r>
          </a:p>
        </p:txBody>
      </p:sp>
    </p:spTree>
    <p:extLst>
      <p:ext uri="{BB962C8B-B14F-4D97-AF65-F5344CB8AC3E}">
        <p14:creationId xmlns:p14="http://schemas.microsoft.com/office/powerpoint/2010/main" val="8304780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D3D7D1C8-AE23-AA48-DF65-C742588DBE47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实时训练工作台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85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主视频、二维轨迹、12路相机与训练控制集中展示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c9edfa25243d8"/>
          <a:stretch xmlns:a="http://schemas.openxmlformats.org/drawingml/2006/main"/>
        </p:blipFill>
        <p:spPr>
          <a:xfrm xmlns:a="http://schemas.openxmlformats.org/drawingml/2006/main">
            <a:off x="1947333" y="1143000"/>
            <a:ext cx="8297333" cy="466725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1BE6BED-1418-4A87-83BB-B4503565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198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截图处于未开始训练状态，暂无现场实测轨迹</a:t>
            </a:r>
          </a:p>
        </p:txBody>
      </p:sp>
    </p:spTree>
    <p:extLst>
      <p:ext uri="{BB962C8B-B14F-4D97-AF65-F5344CB8AC3E}">
        <p14:creationId xmlns:p14="http://schemas.microsoft.com/office/powerpoint/2010/main" val="7345012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BA58DA2A-B818-18A9-29C1-B697728D5BCE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训练设置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85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选择训练人员、比赛场次与动作标准，调整分析参数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3adeb76e74fde"/>
          <a:stretch xmlns:a="http://schemas.openxmlformats.org/drawingml/2006/main"/>
        </p:blipFill>
        <p:spPr>
          <a:xfrm xmlns:a="http://schemas.openxmlformats.org/drawingml/2006/main">
            <a:off x="1947333" y="1143000"/>
            <a:ext cx="8297333" cy="466725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D343B83-1DF0-46D6-8587-0DA127C8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198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参与2～4为人员选择入口，识别效果需多人场景验证</a:t>
            </a:r>
          </a:p>
        </p:txBody>
      </p:sp>
    </p:spTree>
    <p:extLst>
      <p:ext uri="{BB962C8B-B14F-4D97-AF65-F5344CB8AC3E}">
        <p14:creationId xmlns:p14="http://schemas.microsoft.com/office/powerpoint/2010/main" val="4101647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388657AE-30A1-5A7A-6A7F-315D84436430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人员管理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85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按档案列表选择运动员，维护基本资料与训练信息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8926241ff44df"/>
          <a:stretch xmlns:a="http://schemas.openxmlformats.org/drawingml/2006/main"/>
        </p:blipFill>
        <p:spPr>
          <a:xfrm xmlns:a="http://schemas.openxmlformats.org/drawingml/2006/main">
            <a:off x="2472740" y="1143000"/>
            <a:ext cx="7246520" cy="466725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28839EA-902D-4E2E-B2FD-3F167437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198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界面包含运动员和教练两个管理入口</a:t>
            </a:r>
          </a:p>
        </p:txBody>
      </p:sp>
    </p:spTree>
    <p:extLst>
      <p:ext uri="{BB962C8B-B14F-4D97-AF65-F5344CB8AC3E}">
        <p14:creationId xmlns:p14="http://schemas.microsoft.com/office/powerpoint/2010/main" val="4043234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DB7BEEEC-A170-5376-2B6E-CB54687B0CB1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比赛与场次管理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85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维护比赛资料与场次，为训练结果建立比赛归属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35ebabf5b4f66"/>
          <a:stretch xmlns:a="http://schemas.openxmlformats.org/drawingml/2006/main"/>
        </p:blipFill>
        <p:spPr>
          <a:xfrm xmlns:a="http://schemas.openxmlformats.org/drawingml/2006/main">
            <a:off x="2411329" y="1143000"/>
            <a:ext cx="7369342" cy="466725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077BCEB-5E2F-42E3-A445-8D0E985A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198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当前画面为测试比赛资料</a:t>
            </a:r>
          </a:p>
        </p:txBody>
      </p:sp>
    </p:spTree>
    <p:extLst>
      <p:ext uri="{BB962C8B-B14F-4D97-AF65-F5344CB8AC3E}">
        <p14:creationId xmlns:p14="http://schemas.microsoft.com/office/powerpoint/2010/main" val="13130822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30394428-F1DC-E5F6-DB0C-7DE31F3D8A23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历史记录检索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85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组合筛选与分页列表配合当前记录详情，集中提供复盘入口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dbf371bf44529"/>
          <a:stretch xmlns:a="http://schemas.openxmlformats.org/drawingml/2006/main"/>
        </p:blipFill>
        <p:spPr>
          <a:xfrm xmlns:a="http://schemas.openxmlformats.org/drawingml/2006/main">
            <a:off x="1947333" y="1143000"/>
            <a:ext cx="8297333" cy="466725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9574DF0-324A-4F90-9955-A3681496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198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截图中的历史分数属于测试记录</a:t>
            </a:r>
          </a:p>
        </p:txBody>
      </p:sp>
    </p:spTree>
    <p:extLst>
      <p:ext uri="{BB962C8B-B14F-4D97-AF65-F5344CB8AC3E}">
        <p14:creationId xmlns:p14="http://schemas.microsoft.com/office/powerpoint/2010/main" val="6822574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4DB16885-0D3F-A391-B669-3211DB3B26E8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录像回看与人工复核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85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训练录像和标准参考并排查看，动作片段支持人工校准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01a7a6bed40e6"/>
          <a:stretch xmlns:a="http://schemas.openxmlformats.org/drawingml/2006/main"/>
        </p:blipFill>
        <p:spPr>
          <a:xfrm xmlns:a="http://schemas.openxmlformats.org/drawingml/2006/main">
            <a:off x="1947333" y="1143000"/>
            <a:ext cx="8297333" cy="466725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EA99940-1636-487D-8CFC-1A3D1194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198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当前截图没有实际录像画面，支持的播放能力以有效媒体为前提</a:t>
            </a:r>
          </a:p>
        </p:txBody>
      </p:sp>
    </p:spTree>
    <p:extLst>
      <p:ext uri="{BB962C8B-B14F-4D97-AF65-F5344CB8AC3E}">
        <p14:creationId xmlns:p14="http://schemas.microsoft.com/office/powerpoint/2010/main" val="9832303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2DD23107-4986-8758-3A93-3D74F35908CC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分析任务中心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85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查看任务类型、处理进度、输入摘要与错误信息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bdc85b71f4fe3"/>
          <a:stretch xmlns:a="http://schemas.openxmlformats.org/drawingml/2006/main"/>
        </p:blipFill>
        <p:spPr>
          <a:xfrm xmlns:a="http://schemas.openxmlformats.org/drawingml/2006/main">
            <a:off x="2271448" y="1143000"/>
            <a:ext cx="7649104" cy="466725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F6B063C-8377-4AA6-8E73-8B15A13B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198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所选任务显示已完成，但输出训练为空，结果关联仍需核验</a:t>
            </a:r>
          </a:p>
        </p:txBody>
      </p:sp>
    </p:spTree>
    <p:extLst>
      <p:ext uri="{BB962C8B-B14F-4D97-AF65-F5344CB8AC3E}">
        <p14:creationId xmlns:p14="http://schemas.microsoft.com/office/powerpoint/2010/main" val="181059966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327921A4-25C4-3DB4-06B1-32693CEE2241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12路完整分析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85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配置NAS视频源和时间校正，创建并管理完整帧率分析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5acacee474b4a"/>
          <a:stretch xmlns:a="http://schemas.openxmlformats.org/drawingml/2006/main"/>
        </p:blipFill>
        <p:spPr>
          <a:xfrm xmlns:a="http://schemas.openxmlformats.org/drawingml/2006/main">
            <a:off x="2731238" y="1143000"/>
            <a:ext cx="6729523" cy="466725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B2AA5E0-EAAE-46E2-AF1D-826DC17D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198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当前12路源待配置，尚未创建分析批次</a:t>
            </a:r>
          </a:p>
        </p:txBody>
      </p:sp>
    </p:spTree>
    <p:extLst>
      <p:ext uri="{BB962C8B-B14F-4D97-AF65-F5344CB8AC3E}">
        <p14:creationId xmlns:p14="http://schemas.microsoft.com/office/powerpoint/2010/main" val="17513076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EA83FA91-883A-0168-8075-96CEB9DCA3C2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系统运行状态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85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统一查看训练服务、AI能力、摄像头和本机资源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bb12145164f16"/>
          <a:stretch xmlns:a="http://schemas.openxmlformats.org/drawingml/2006/main"/>
        </p:blipFill>
        <p:spPr>
          <a:xfrm xmlns:a="http://schemas.openxmlformats.org/drawingml/2006/main">
            <a:off x="1947333" y="1143000"/>
            <a:ext cx="8297333" cy="466725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C859857-1979-4C22-A567-3A3A1C1F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198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截图中服务已连接、模型可用，相机在线状态尚未检测</a:t>
            </a:r>
          </a:p>
        </p:txBody>
      </p:sp>
    </p:spTree>
    <p:extLst>
      <p:ext uri="{BB962C8B-B14F-4D97-AF65-F5344CB8AC3E}">
        <p14:creationId xmlns:p14="http://schemas.microsoft.com/office/powerpoint/2010/main" val="3501465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DC9C7607-4BA3-B4DC-A00F-2E67A9FCFF7E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视频与摄像头配置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85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公共连接参数、机位IP、配置模板及连通测试集中管理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9095a7ca8451b"/>
          <a:stretch xmlns:a="http://schemas.openxmlformats.org/drawingml/2006/main"/>
        </p:blipFill>
        <p:spPr>
          <a:xfrm xmlns:a="http://schemas.openxmlformats.org/drawingml/2006/main">
            <a:off x="2718385" y="1143000"/>
            <a:ext cx="6755230" cy="466725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901864B-B942-48CA-87AA-38DB89D6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198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预览帧率与主码流帧率为配置值，不代表实测性能</a:t>
            </a:r>
          </a:p>
        </p:txBody>
      </p:sp>
    </p:spTree>
    <p:extLst>
      <p:ext uri="{BB962C8B-B14F-4D97-AF65-F5344CB8AC3E}">
        <p14:creationId xmlns:p14="http://schemas.microsoft.com/office/powerpoint/2010/main" val="19725060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90F7333B-44AC-F7E9-D49D-FE92F45E0477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场地与轨迹标定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85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按机位设置覆盖范围，并维护二维轨迹所需的四点标定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8f098563048d9"/>
          <a:stretch xmlns:a="http://schemas.openxmlformats.org/drawingml/2006/main"/>
        </p:blipFill>
        <p:spPr>
          <a:xfrm xmlns:a="http://schemas.openxmlformats.org/drawingml/2006/main">
            <a:off x="2718385" y="1143000"/>
            <a:ext cx="6755230" cy="466725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C9FED43-CFDF-446F-8E90-D54323C5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198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需要现场统一场地坐标并验证拼接误差</a:t>
            </a:r>
          </a:p>
        </p:txBody>
      </p:sp>
    </p:spTree>
    <p:extLst>
      <p:ext uri="{BB962C8B-B14F-4D97-AF65-F5344CB8AC3E}">
        <p14:creationId xmlns:p14="http://schemas.microsoft.com/office/powerpoint/2010/main" val="141485300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B1C6C81E-38B9-7560-621D-5A151A79DF9B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AI分析参数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85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配置分析流、目标帧率、最大分析路数与自动降级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69d72a46442d1"/>
          <a:stretch xmlns:a="http://schemas.openxmlformats.org/drawingml/2006/main"/>
        </p:blipFill>
        <p:spPr>
          <a:xfrm xmlns:a="http://schemas.openxmlformats.org/drawingml/2006/main">
            <a:off x="2718385" y="1143000"/>
            <a:ext cx="6755230" cy="466725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7BC0B2E-B302-4036-A108-2C0ECA9A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198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图中5 FPS与12路是目标设置，实际吞吐需现场测量</a:t>
            </a:r>
          </a:p>
        </p:txBody>
      </p:sp>
    </p:spTree>
    <p:extLst>
      <p:ext uri="{BB962C8B-B14F-4D97-AF65-F5344CB8AC3E}">
        <p14:creationId xmlns:p14="http://schemas.microsoft.com/office/powerpoint/2010/main" val="18480290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CCF91274-D221-1BB4-3BF9-836E3AD31EBE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视频存储策略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085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设置录像目录、容量上限和保留天数，扫描清理候选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40f0957284f49"/>
          <a:stretch xmlns:a="http://schemas.openxmlformats.org/drawingml/2006/main"/>
        </p:blipFill>
        <p:spPr>
          <a:xfrm xmlns:a="http://schemas.openxmlformats.org/drawingml/2006/main">
            <a:off x="2718385" y="1143000"/>
            <a:ext cx="6755230" cy="466725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7EF7AE7-F89D-407C-96B2-14EB4733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19850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当前已登记文件为0，截图不能证明持续录像与回放已验收</a:t>
            </a:r>
          </a:p>
        </p:txBody>
      </p:sp>
    </p:spTree>
    <p:extLst>
      <p:ext uri="{BB962C8B-B14F-4D97-AF65-F5344CB8AC3E}">
        <p14:creationId xmlns:p14="http://schemas.microsoft.com/office/powerpoint/2010/main" val="20124839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844E025A-983C-6D44-79C6-4612AACD43FC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算法集成进度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238250"/>
            <a:ext cx="113728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检测与身份识别已有接入，二维轨迹和速度链路已实现，专项姿态仍待补齐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09575" y="2190750"/>
          <a:ext xmlns:a="http://schemas.openxmlformats.org/drawingml/2006/main" cx="113728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000500"/>
                <a:gridCol w="4848225"/>
              </a:tblGrid>
              <a:tr h="53067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算法能力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下一步验证或补齐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人体检测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已接入，截图显示可用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冰场遮挡、多人交叉、漏检与误检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身份识别 / ReID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已接入，支持身份绑定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同服装、跨机位、未知身份与误绑定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二维轨迹与速度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标定、计算、存储及导出已有实现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现场标定精度、跨镜连续性、速度误差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最多4人结果关联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协议、参与人结构及选择入口已有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同场4人稳定识别与结果归属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12路完整帧率分析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配置、任务与worker代码已有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真实12路批次、完成结果与负载实测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3D姿态 / 关节指标 / 自动评分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当前新训练尚无完整输出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接入算法并完成视频、时间与人员对齐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6B51121-42E2-401E-AEB4-3A768D43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1531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B4B4B4"/>
                </a:solidFill>
                <a:latin typeface="Microsoft YaHei"/>
                <a:ea typeface="Microsoft YaHei"/>
                <a:cs typeface="Microsoft YaHei"/>
              </a:rPr>
              <a:t>状态依据当前源码与截图。未提供现场精度、吞吐及验收记录，因此不计算整体完成率。</a:t>
            </a:r>
          </a:p>
        </p:txBody>
      </p:sp>
    </p:spTree>
    <p:extLst>
      <p:ext uri="{BB962C8B-B14F-4D97-AF65-F5344CB8AC3E}">
        <p14:creationId xmlns:p14="http://schemas.microsoft.com/office/powerpoint/2010/main" val="194480745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F6DF2BE2-2DFA-1C03-677D-BDC2260D6D92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目前需要闭合的算法验证环节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907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接入后的效果验证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真实冰场视频中的检测与身份稳定性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四点标定后的轨迹连续性与速度误差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同场4人、跨机位结果归属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12路完整批次的性能与结果回写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尚待补齐的专项输出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3D骨架及连续关节角度、角速度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动作片段自动识别与技术评分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视频帧、人员和专项指标的时间对齐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基于真实样本的对照评测材料</a:t>
            </a:r>
          </a:p>
        </p:txBody>
      </p:sp>
    </p:spTree>
    <p:extLst>
      <p:ext uri="{BB962C8B-B14F-4D97-AF65-F5344CB8AC3E}">
        <p14:creationId xmlns:p14="http://schemas.microsoft.com/office/powerpoint/2010/main" val="345933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68100" y="6419850"/>
            <a:ext cx="323850" cy="190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fld id="{0BB18BA8-60F4-C50D-CD9B-1BB87D3E8506}" type="slidenum">
              <a:rPr sz="9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9575" y="400050"/>
            <a:ext cx="11049000" cy="61912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下一阶段集成与验收安排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907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先完成基础链路验证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准备实际机位视频和现场标定点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跑通采集、识别、轨迹、存储与复盘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核对任务输出训练和历史结果关联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记录失败原因及重复运行结果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再推进专项算法与验收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统一姿态、关节和评分输出定义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完成多人、跨机位和时间对齐测试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形成效果、性能及稳定性验证记录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补齐操作说明、部署和验收材料</a:t>
            </a:r>
          </a:p>
        </p:txBody>
      </p:sp>
    </p:spTree>
    <p:extLst>
      <p:ext uri="{BB962C8B-B14F-4D97-AF65-F5344CB8AC3E}">
        <p14:creationId xmlns:p14="http://schemas.microsoft.com/office/powerpoint/2010/main" val="1042388123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2026-09-09T07:03:36.0710000Z</dcterms:created>
  <dcterms:modified xsi:type="dcterms:W3CDTF">2026-09-09T07:03:36.0710000Z</dcterms:modified>
</coreProperties>
</file>